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ML Inference Data Pipeline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Consulting-style logical architecture (editable)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097280"/>
            <a:ext cx="2011680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Source Systems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1097280"/>
            <a:ext cx="2011680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Data Ingestion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0" y="1097280"/>
            <a:ext cx="2011680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Processing &amp; Query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9" y="1097280"/>
            <a:ext cx="2011680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ML Inference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0" y="1097280"/>
            <a:ext cx="2011680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Outputs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828800"/>
            <a:ext cx="2011680" cy="822960"/>
          </a:xfrm>
          <a:prstGeom prst="roundRect">
            <a:avLst/>
          </a:prstGeom>
          <a:solidFill>
            <a:srgbClr val="D9D9D9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Excel / SharePoint 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828800"/>
            <a:ext cx="2011680" cy="822960"/>
          </a:xfrm>
          <a:prstGeom prst="roundRect">
            <a:avLst/>
          </a:prstGeom>
          <a:solidFill>
            <a:srgbClr val="4F81BD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S3 Ingestion Bucket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828800"/>
            <a:ext cx="2011680" cy="822960"/>
          </a:xfrm>
          <a:prstGeom prst="roundRect">
            <a:avLst/>
          </a:prstGeom>
          <a:solidFill>
            <a:srgbClr val="9B59B6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Athena Tables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828800"/>
            <a:ext cx="2011680" cy="822960"/>
          </a:xfrm>
          <a:prstGeom prst="roundRect">
            <a:avLst/>
          </a:prstGeom>
          <a:solidFill>
            <a:srgbClr val="F39C12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SageMaker Inference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108960"/>
            <a:ext cx="2011680" cy="822960"/>
          </a:xfrm>
          <a:prstGeom prst="roundRect">
            <a:avLst/>
          </a:prstGeom>
          <a:solidFill>
            <a:srgbClr val="D9D9D9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SAS / Hadoop Inputs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3108960"/>
            <a:ext cx="2011680" cy="822960"/>
          </a:xfrm>
          <a:prstGeom prst="roundRect">
            <a:avLst/>
          </a:prstGeom>
          <a:solidFill>
            <a:srgbClr val="4F81BD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CSV Download (CDSW)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3108960"/>
            <a:ext cx="2011680" cy="822960"/>
          </a:xfrm>
          <a:prstGeom prst="roundRect">
            <a:avLst/>
          </a:prstGeom>
          <a:solidFill>
            <a:srgbClr val="9B59B6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Athena Query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3108960"/>
            <a:ext cx="2011680" cy="822960"/>
          </a:xfrm>
          <a:prstGeom prst="roundRect">
            <a:avLst/>
          </a:prstGeom>
          <a:solidFill>
            <a:srgbClr val="F39C12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SageMaker Inference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389120"/>
            <a:ext cx="2011680" cy="822960"/>
          </a:xfrm>
          <a:prstGeom prst="roundRect">
            <a:avLst/>
          </a:prstGeom>
          <a:solidFill>
            <a:srgbClr val="D9D9D9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Production Athena Tables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4389120"/>
            <a:ext cx="2011680" cy="822960"/>
          </a:xfrm>
          <a:prstGeom prst="roundRect">
            <a:avLst/>
          </a:prstGeom>
          <a:solidFill>
            <a:srgbClr val="4F81BD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S3 Data Access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4389120"/>
            <a:ext cx="2011680" cy="822960"/>
          </a:xfrm>
          <a:prstGeom prst="roundRect">
            <a:avLst/>
          </a:prstGeom>
          <a:solidFill>
            <a:srgbClr val="9B59B6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Athena Query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4389120"/>
            <a:ext cx="2011680" cy="822960"/>
          </a:xfrm>
          <a:prstGeom prst="roundRect">
            <a:avLst/>
          </a:prstGeom>
          <a:solidFill>
            <a:srgbClr val="F39C12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SageMaker Inference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0" y="1737360"/>
            <a:ext cx="2011680" cy="822960"/>
          </a:xfrm>
          <a:prstGeom prst="roundRect">
            <a:avLst/>
          </a:prstGeom>
          <a:solidFill>
            <a:srgbClr val="27AE60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Model Predictions Table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0" y="2560320"/>
            <a:ext cx="2011680" cy="822960"/>
          </a:xfrm>
          <a:prstGeom prst="roundRect">
            <a:avLst/>
          </a:prstGeom>
          <a:solidFill>
            <a:srgbClr val="27AE60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Pickle Model Files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0" y="3383279"/>
            <a:ext cx="2011680" cy="822960"/>
          </a:xfrm>
          <a:prstGeom prst="roundRect">
            <a:avLst/>
          </a:prstGeom>
          <a:solidFill>
            <a:srgbClr val="27AE60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JSON Output Files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0" y="4206240"/>
            <a:ext cx="2011680" cy="822960"/>
          </a:xfrm>
          <a:prstGeom prst="roundRect">
            <a:avLst/>
          </a:prstGeom>
          <a:solidFill>
            <a:srgbClr val="27AE60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PDF Reports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5029200"/>
            <a:ext cx="2011680" cy="822960"/>
          </a:xfrm>
          <a:prstGeom prst="roundRect">
            <a:avLst/>
          </a:prstGeom>
          <a:solidFill>
            <a:srgbClr val="27AE60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HTML Reports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Logical Architecture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Source Layer – External files, SAS pipelines, Hadoop, and Athena datasets</a:t>
            </a:r>
          </a:p>
          <a:p>
            <a:r>
              <a:t>Ingestion Layer – Data ingestion into S3 data lake</a:t>
            </a:r>
          </a:p>
          <a:p>
            <a:r>
              <a:t>Processing Layer – Athena queries and intermediate tables</a:t>
            </a:r>
          </a:p>
          <a:p>
            <a:r>
              <a:t>ML Layer – SageMaker inference execution</a:t>
            </a:r>
          </a:p>
          <a:p>
            <a:r>
              <a:t>Output Layer – Prediction datasets and report artifacts (JSON, PDF, HTML)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