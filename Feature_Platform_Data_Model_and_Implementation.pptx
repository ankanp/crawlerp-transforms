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Apache Iceberg Spark DDL docs: https://iceberg.apache.org/docs/nightly/spark-ddl/
Apache Iceberg getting started for Spark: https://iceberg.apache.org/docs/latest/spark-getting-started/
[/Sources]
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Apache Spark SQL built-in function reference (for array element access patterns): https://spark.apache.org/docs/latest/api/sql/index.html
Apache Iceberg Spark DDL docs: https://iceberg.apache.org/docs/nightly/spark-ddl/
[/Sources]
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Apache Iceberg Spark configuration docs: https://iceberg.apache.org/docs/latest/spark-configuration/
Apache Iceberg Spark writes docs: https://iceberg.apache.org/docs/1.5.0/spark-writes/
Apache Spark SQL guide: https://spark.apache.org/docs/latest/sql-programming-guide.html
[/Sources]
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583680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DDF0"/>
                </a:solidFill>
              </a:rPr>
              <a:t>Feature platform architecture sketch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56248"/>
            <a:ext cx="36576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D6DDF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56248"/>
            <a:ext cx="36576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D6DDF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914400"/>
            <a:ext cx="10972800" cy="493776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 w="12700">
            <a:solidFill>
              <a:srgbClr val="E5EAF3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4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914400" y="1325880"/>
            <a:ext cx="6766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Feature platform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logical + physical data model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14400" y="251460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B5563"/>
                </a:solidFill>
              </a:rPr>
              <a:t>From raw monthly performance to observation-driven feature tables, registry metadata, reporting views, sample DDL, and a Spark + Iceberg implementation sketch.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863840" y="1371600"/>
            <a:ext cx="2834640" cy="3474720"/>
          </a:xfrm>
          <a:prstGeom prst="roundRect">
            <a:avLst>
              <a:gd name="adj" fmla="val 2581"/>
            </a:avLst>
          </a:prstGeom>
          <a:solidFill>
            <a:srgbClr val="EEF3FF"/>
          </a:solidFill>
          <a:ln w="12700">
            <a:solidFill>
              <a:srgbClr val="C7D7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83880" y="1737360"/>
            <a:ext cx="2148840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75320" y="1801368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</a:rPr>
              <a:t>Raw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183880" y="2240280"/>
            <a:ext cx="2148840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75320" y="2304288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</a:rPr>
              <a:t>Conformed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183880" y="2743200"/>
            <a:ext cx="2148840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75320" y="2807208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A34A"/>
                </a:solidFill>
              </a:rPr>
              <a:t>Observation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183880" y="3246120"/>
            <a:ext cx="2148840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75320" y="3310128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</a:rPr>
              <a:t>Registry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183880" y="3749040"/>
            <a:ext cx="2148840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75320" y="3813048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</a:rPr>
              <a:t>Serving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14400" y="416052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563EB"/>
                </a:solidFill>
              </a:rPr>
              <a:t>Primary grain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2563EB"/>
                </a:solidFill>
              </a:rPr>
              <a:t>application_id + observation_date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56248"/>
            <a:ext cx="36576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D6DDF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38912"/>
            <a:ext cx="9052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the platform needs to solve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896112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</a:rPr>
              <a:t>A single framework that can support raw time series and aggregated features across multiple observation windows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1325880"/>
            <a:ext cx="2743200" cy="1828800"/>
          </a:xfrm>
          <a:prstGeom prst="roundRect">
            <a:avLst>
              <a:gd name="adj" fmla="val 4000"/>
            </a:avLst>
          </a:prstGeom>
          <a:solidFill>
            <a:srgbClr val="EEF3FF"/>
          </a:solidFill>
          <a:ln w="12700">
            <a:solidFill>
              <a:srgbClr val="D7DEEA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325880"/>
            <a:ext cx="109728" cy="18288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1453896"/>
            <a:ext cx="2450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</a:rPr>
              <a:t>Anchor grain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41248" y="1755648"/>
            <a:ext cx="2468880" cy="1298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</a:rPr>
              <a:t>Every feature is computed as of a common key: application_id + observation_date. This is the only reliable way to mix 3m, 6m, 12m, 24m, and 45m windows.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611880" y="1325880"/>
            <a:ext cx="2743200" cy="1828800"/>
          </a:xfrm>
          <a:prstGeom prst="roundRect">
            <a:avLst>
              <a:gd name="adj" fmla="val 4000"/>
            </a:avLst>
          </a:prstGeom>
          <a:solidFill>
            <a:srgbClr val="F7FEFF"/>
          </a:solidFill>
          <a:ln w="12700">
            <a:solidFill>
              <a:srgbClr val="D7DEEA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11880" y="1325880"/>
            <a:ext cx="109728" cy="18288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13048" y="1453896"/>
            <a:ext cx="2450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</a:rPr>
              <a:t>Canonical storage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813048" y="1755648"/>
            <a:ext cx="2468880" cy="1298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</a:rPr>
              <a:t>Keep the source of truth long and narrow at the natural grain, e.g. application_id + month_end_date for DPD history and other monthly behaviour.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583680" y="1325880"/>
            <a:ext cx="2697480" cy="1828800"/>
          </a:xfrm>
          <a:prstGeom prst="roundRect">
            <a:avLst>
              <a:gd name="adj" fmla="val 4000"/>
            </a:avLst>
          </a:prstGeom>
          <a:solidFill>
            <a:srgbClr val="F5FFF8"/>
          </a:solidFill>
          <a:ln w="12700">
            <a:solidFill>
              <a:srgbClr val="D7DEEA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583680" y="1325880"/>
            <a:ext cx="109728" cy="18288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84848" y="1453896"/>
            <a:ext cx="24048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</a:rPr>
              <a:t>Config-driven logic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784848" y="1755648"/>
            <a:ext cx="2423160" cy="1298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</a:rPr>
              <a:t>Drive windows, filters, aggregation rules, and output shapes from a feature registry instead of hardcoding each SQL block.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509760" y="1325880"/>
            <a:ext cx="2011680" cy="1828800"/>
          </a:xfrm>
          <a:prstGeom prst="roundRect">
            <a:avLst>
              <a:gd name="adj" fmla="val 4000"/>
            </a:avLst>
          </a:prstGeom>
          <a:solidFill>
            <a:srgbClr val="FFF8F0"/>
          </a:solidFill>
          <a:ln w="12700">
            <a:solidFill>
              <a:srgbClr val="D7DEEA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509760" y="1325880"/>
            <a:ext cx="109728" cy="18288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710928" y="1453896"/>
            <a:ext cx="1719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</a:rPr>
              <a:t>Serving split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710928" y="1755648"/>
            <a:ext cx="1737360" cy="1298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</a:rPr>
              <a:t>Expose wide tables for models and reporting views for business users, while retaining arrays or child tables for sequences.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3474720"/>
            <a:ext cx="544068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0080" y="3474720"/>
            <a:ext cx="109728" cy="2286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1248" y="3602736"/>
            <a:ext cx="5148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</a:rPr>
              <a:t>Recommended output pattern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41248" y="3904488"/>
            <a:ext cx="5166360" cy="1755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</a:rPr>
              <a:t>1. Base fact tables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</a:rPr>
              <a:t>2. Observation driver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</a:rPr>
              <a:t>3. Feature registry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</a:rPr>
              <a:t>4. Narrow generated outputs for lineage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</a:rPr>
              <a:t>5. Wide feature table for training/scoring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</a:rPr>
              <a:t>6. Reporting view with dpd_m00 ... dpd_m45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355080" y="3474720"/>
            <a:ext cx="5166360" cy="2286000"/>
          </a:xfrm>
          <a:prstGeom prst="roundRect">
            <a:avLst>
              <a:gd name="adj" fmla="val 3200"/>
            </a:avLst>
          </a:prstGeom>
          <a:solidFill>
            <a:srgbClr val="FFF9FA"/>
          </a:solidFill>
          <a:ln w="12700">
            <a:solidFill>
              <a:srgbClr val="D7DEEA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355080" y="3474720"/>
            <a:ext cx="109728" cy="22860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56248" y="3602736"/>
            <a:ext cx="4873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</a:rPr>
              <a:t>DPD-specific rule of thumb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556248" y="3904488"/>
            <a:ext cx="4892040" cy="1755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</a:rPr>
              <a:t>Canonical: fact_application_month.dpd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</a:rPr>
              <a:t>Technical sequence: dpd_hist_45m as array&lt;int&gt; or child table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</a:rPr>
              <a:t>Business reporting: pivot to dpd_m00 ... dpd_m45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</a:rPr>
              <a:t>Summary features: max_dpd_3m, max_dpd_12m, count_30plus_12m, months_since_last_delinquency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56248"/>
            <a:ext cx="36576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D6DDF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38912"/>
            <a:ext cx="9052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Logical architecture: 6 layers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896112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</a:rPr>
              <a:t>Keep auditability, reuse, governance, and serving concerns separate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868680" y="1325880"/>
            <a:ext cx="1046988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97280" y="1435608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C2626"/>
                </a:solidFill>
              </a:rPr>
              <a:t>1. Raw ingestion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246120" y="1389888"/>
            <a:ext cx="2697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b="1" dirty="0">
                <a:solidFill>
                  <a:srgbClr val="111827"/>
                </a:solidFill>
              </a:rPr>
              <a:t>raw_application, raw_contract</a:t>
            </a:r>
            <a:endParaRPr lang="en-US" sz="1060" dirty="0"/>
          </a:p>
        </p:txBody>
      </p:sp>
      <p:sp>
        <p:nvSpPr>
          <p:cNvPr id="7" name="Text 5"/>
          <p:cNvSpPr/>
          <p:nvPr/>
        </p:nvSpPr>
        <p:spPr>
          <a:xfrm>
            <a:off x="6355080" y="1389888"/>
            <a:ext cx="4069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4B5563"/>
                </a:solidFill>
              </a:rPr>
              <a:t>Audit, replay, source fidelity</a:t>
            </a:r>
            <a:endParaRPr lang="en-US" sz="1060" dirty="0"/>
          </a:p>
        </p:txBody>
      </p:sp>
      <p:sp>
        <p:nvSpPr>
          <p:cNvPr id="8" name="Shape 6"/>
          <p:cNvSpPr/>
          <p:nvPr/>
        </p:nvSpPr>
        <p:spPr>
          <a:xfrm>
            <a:off x="5806440" y="1865376"/>
            <a:ext cx="274320" cy="164592"/>
          </a:xfrm>
          <a:prstGeom prst="downArrow">
            <a:avLst/>
          </a:prstGeom>
          <a:solidFill>
            <a:srgbClr val="B8C5D8"/>
          </a:solidFill>
          <a:ln w="12700">
            <a:solidFill>
              <a:srgbClr val="B8C5D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2103120"/>
            <a:ext cx="1046988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097280" y="2212848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</a:rPr>
              <a:t>2. Conformed facts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246120" y="2167128"/>
            <a:ext cx="2697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b="1" dirty="0">
                <a:solidFill>
                  <a:srgbClr val="111827"/>
                </a:solidFill>
              </a:rPr>
              <a:t>dim_application, fact_application_month</a:t>
            </a:r>
            <a:endParaRPr lang="en-US" sz="1060" dirty="0"/>
          </a:p>
        </p:txBody>
      </p:sp>
      <p:sp>
        <p:nvSpPr>
          <p:cNvPr id="12" name="Text 10"/>
          <p:cNvSpPr/>
          <p:nvPr/>
        </p:nvSpPr>
        <p:spPr>
          <a:xfrm>
            <a:off x="6355080" y="2167128"/>
            <a:ext cx="4069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4B5563"/>
                </a:solidFill>
              </a:rPr>
              <a:t>Natural business grain and clean keys</a:t>
            </a:r>
            <a:endParaRPr lang="en-US" sz="1060" dirty="0"/>
          </a:p>
        </p:txBody>
      </p:sp>
      <p:sp>
        <p:nvSpPr>
          <p:cNvPr id="13" name="Shape 11"/>
          <p:cNvSpPr/>
          <p:nvPr/>
        </p:nvSpPr>
        <p:spPr>
          <a:xfrm>
            <a:off x="5806440" y="2642616"/>
            <a:ext cx="274320" cy="164592"/>
          </a:xfrm>
          <a:prstGeom prst="downArrow">
            <a:avLst/>
          </a:prstGeom>
          <a:solidFill>
            <a:srgbClr val="B8C5D8"/>
          </a:solidFill>
          <a:ln w="12700">
            <a:solidFill>
              <a:srgbClr val="B8C5D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68680" y="2880360"/>
            <a:ext cx="1046988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2700">
            <a:solidFill>
              <a:srgbClr val="06B6D4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097280" y="2990088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B6D4"/>
                </a:solidFill>
              </a:rPr>
              <a:t>3. Observation framework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246120" y="2944368"/>
            <a:ext cx="2697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b="1" dirty="0">
                <a:solidFill>
                  <a:srgbClr val="111827"/>
                </a:solidFill>
              </a:rPr>
              <a:t>obs_application</a:t>
            </a:r>
            <a:endParaRPr lang="en-US" sz="1060" dirty="0"/>
          </a:p>
        </p:txBody>
      </p:sp>
      <p:sp>
        <p:nvSpPr>
          <p:cNvPr id="17" name="Text 15"/>
          <p:cNvSpPr/>
          <p:nvPr/>
        </p:nvSpPr>
        <p:spPr>
          <a:xfrm>
            <a:off x="6355080" y="2944368"/>
            <a:ext cx="4069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4B5563"/>
                </a:solidFill>
              </a:rPr>
              <a:t>Defines every valid as-of date for feature creation</a:t>
            </a:r>
            <a:endParaRPr lang="en-US" sz="1060" dirty="0"/>
          </a:p>
        </p:txBody>
      </p:sp>
      <p:sp>
        <p:nvSpPr>
          <p:cNvPr id="18" name="Shape 16"/>
          <p:cNvSpPr/>
          <p:nvPr/>
        </p:nvSpPr>
        <p:spPr>
          <a:xfrm>
            <a:off x="5806440" y="3419856"/>
            <a:ext cx="274320" cy="164592"/>
          </a:xfrm>
          <a:prstGeom prst="downArrow">
            <a:avLst/>
          </a:prstGeom>
          <a:solidFill>
            <a:srgbClr val="B8C5D8"/>
          </a:solidFill>
          <a:ln w="12700">
            <a:solidFill>
              <a:srgbClr val="B8C5D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68680" y="3657600"/>
            <a:ext cx="1046988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1097280" y="3767328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A34A"/>
                </a:solidFill>
              </a:rPr>
              <a:t>4. Feature registry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3246120" y="3721608"/>
            <a:ext cx="2697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b="1" dirty="0">
                <a:solidFill>
                  <a:srgbClr val="111827"/>
                </a:solidFill>
              </a:rPr>
              <a:t>feature_registry + dependencies</a:t>
            </a:r>
            <a:endParaRPr lang="en-US" sz="1060" dirty="0"/>
          </a:p>
        </p:txBody>
      </p:sp>
      <p:sp>
        <p:nvSpPr>
          <p:cNvPr id="22" name="Text 20"/>
          <p:cNvSpPr/>
          <p:nvPr/>
        </p:nvSpPr>
        <p:spPr>
          <a:xfrm>
            <a:off x="6355080" y="3721608"/>
            <a:ext cx="4069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4B5563"/>
                </a:solidFill>
              </a:rPr>
              <a:t>Metadata for windows, logic, ownership, output shape</a:t>
            </a:r>
            <a:endParaRPr lang="en-US" sz="1060" dirty="0"/>
          </a:p>
        </p:txBody>
      </p:sp>
      <p:sp>
        <p:nvSpPr>
          <p:cNvPr id="23" name="Shape 21"/>
          <p:cNvSpPr/>
          <p:nvPr/>
        </p:nvSpPr>
        <p:spPr>
          <a:xfrm>
            <a:off x="5806440" y="4197096"/>
            <a:ext cx="274320" cy="164592"/>
          </a:xfrm>
          <a:prstGeom prst="downArrow">
            <a:avLst/>
          </a:prstGeom>
          <a:solidFill>
            <a:srgbClr val="B8C5D8"/>
          </a:solidFill>
          <a:ln w="12700">
            <a:solidFill>
              <a:srgbClr val="B8C5D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68680" y="4434840"/>
            <a:ext cx="1046988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1097280" y="4544568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7706"/>
                </a:solidFill>
              </a:rPr>
              <a:t>5. Generated outputs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3246120" y="4498848"/>
            <a:ext cx="2697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b="1" dirty="0">
                <a:solidFill>
                  <a:srgbClr val="111827"/>
                </a:solidFill>
              </a:rPr>
              <a:t>feature_value_narrow + feature_series_value</a:t>
            </a:r>
            <a:endParaRPr lang="en-US" sz="1060" dirty="0"/>
          </a:p>
        </p:txBody>
      </p:sp>
      <p:sp>
        <p:nvSpPr>
          <p:cNvPr id="27" name="Text 25"/>
          <p:cNvSpPr/>
          <p:nvPr/>
        </p:nvSpPr>
        <p:spPr>
          <a:xfrm>
            <a:off x="6355080" y="4498848"/>
            <a:ext cx="4069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4B5563"/>
                </a:solidFill>
              </a:rPr>
              <a:t>Modular intermediate outputs and lineage</a:t>
            </a:r>
            <a:endParaRPr lang="en-US" sz="1060" dirty="0"/>
          </a:p>
        </p:txBody>
      </p:sp>
      <p:sp>
        <p:nvSpPr>
          <p:cNvPr id="28" name="Shape 26"/>
          <p:cNvSpPr/>
          <p:nvPr/>
        </p:nvSpPr>
        <p:spPr>
          <a:xfrm>
            <a:off x="5806440" y="4974336"/>
            <a:ext cx="274320" cy="164592"/>
          </a:xfrm>
          <a:prstGeom prst="downArrow">
            <a:avLst/>
          </a:prstGeom>
          <a:solidFill>
            <a:srgbClr val="B8C5D8"/>
          </a:solidFill>
          <a:ln w="12700">
            <a:solidFill>
              <a:srgbClr val="B8C5D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68680" y="5212080"/>
            <a:ext cx="1046988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2700">
            <a:solidFill>
              <a:srgbClr val="0B1F3A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1097280" y="5321808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</a:rPr>
              <a:t>6. Serving layer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3246120" y="5276088"/>
            <a:ext cx="2697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b="1" dirty="0">
                <a:solidFill>
                  <a:srgbClr val="111827"/>
                </a:solidFill>
              </a:rPr>
              <a:t>feature_application_wide + reporting view</a:t>
            </a:r>
            <a:endParaRPr lang="en-US" sz="1060" dirty="0"/>
          </a:p>
        </p:txBody>
      </p:sp>
      <p:sp>
        <p:nvSpPr>
          <p:cNvPr id="32" name="Text 30"/>
          <p:cNvSpPr/>
          <p:nvPr/>
        </p:nvSpPr>
        <p:spPr>
          <a:xfrm>
            <a:off x="6355080" y="5276088"/>
            <a:ext cx="4069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4B5563"/>
                </a:solidFill>
              </a:rPr>
              <a:t>Training, scoring, BI and governance consumption</a:t>
            </a:r>
            <a:endParaRPr lang="en-US" sz="10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56248"/>
            <a:ext cx="36576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D6DDF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38912"/>
            <a:ext cx="9052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Physical data model sketch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896112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</a:rPr>
              <a:t>Core tables, grains, and relationships arranged from base dimensions to serving outputs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84048" y="1316736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B5563"/>
                </a:solidFill>
              </a:rPr>
              <a:t>Dimensions &amp;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4B5563"/>
                </a:solidFill>
              </a:rPr>
              <a:t>monthly facts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84048" y="306324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B5563"/>
                </a:solidFill>
              </a:rPr>
              <a:t>Feature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4B5563"/>
                </a:solidFill>
              </a:rPr>
              <a:t>control layer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84048" y="4828032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B5563"/>
                </a:solidFill>
              </a:rPr>
              <a:t>Serving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4B5563"/>
                </a:solidFill>
              </a:rPr>
              <a:t>layer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965960" y="1234440"/>
            <a:ext cx="178308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57400" y="1316736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</a:rPr>
              <a:t>dim_application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075688" y="1536192"/>
            <a:ext cx="1563624" cy="5486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4B5563"/>
                </a:solidFill>
              </a:rPr>
              <a:t>1 row per application</a:t>
            </a:r>
            <a:endParaRPr lang="en-US" sz="1020" dirty="0"/>
          </a:p>
          <a:p>
            <a:pPr algn="ctr" indent="0" marL="0">
              <a:buNone/>
            </a:pPr>
            <a:r>
              <a:rPr lang="en-US" sz="1020" dirty="0">
                <a:solidFill>
                  <a:srgbClr val="4B5563"/>
                </a:solidFill>
              </a:rPr>
              <a:t>current or SCD2</a:t>
            </a:r>
            <a:endParaRPr lang="en-US" sz="1020" dirty="0"/>
          </a:p>
        </p:txBody>
      </p:sp>
      <p:sp>
        <p:nvSpPr>
          <p:cNvPr id="10" name="Shape 8"/>
          <p:cNvSpPr/>
          <p:nvPr/>
        </p:nvSpPr>
        <p:spPr>
          <a:xfrm>
            <a:off x="3977640" y="1234440"/>
            <a:ext cx="182880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069080" y="1316736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B6D4"/>
                </a:solidFill>
              </a:rPr>
              <a:t>bridge_app_customer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087368" y="1536192"/>
            <a:ext cx="1609344" cy="5486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4B5563"/>
                </a:solidFill>
              </a:rPr>
              <a:t>application-customer mapping</a:t>
            </a:r>
            <a:endParaRPr lang="en-US" sz="1020" dirty="0"/>
          </a:p>
        </p:txBody>
      </p:sp>
      <p:sp>
        <p:nvSpPr>
          <p:cNvPr id="13" name="Shape 11"/>
          <p:cNvSpPr/>
          <p:nvPr/>
        </p:nvSpPr>
        <p:spPr>
          <a:xfrm>
            <a:off x="6035040" y="1234440"/>
            <a:ext cx="164592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0" y="1316736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A34A"/>
                </a:solidFill>
              </a:rPr>
              <a:t>dim_customer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144768" y="1536192"/>
            <a:ext cx="1426464" cy="5486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4B5563"/>
                </a:solidFill>
              </a:rPr>
              <a:t>customer attributes</a:t>
            </a:r>
            <a:endParaRPr lang="en-US" sz="1020" dirty="0"/>
          </a:p>
        </p:txBody>
      </p:sp>
      <p:sp>
        <p:nvSpPr>
          <p:cNvPr id="16" name="Shape 14"/>
          <p:cNvSpPr/>
          <p:nvPr/>
        </p:nvSpPr>
        <p:spPr>
          <a:xfrm>
            <a:off x="7909560" y="1234440"/>
            <a:ext cx="2011680" cy="914400"/>
          </a:xfrm>
          <a:prstGeom prst="roundRect">
            <a:avLst>
              <a:gd name="adj" fmla="val 5000"/>
            </a:avLst>
          </a:prstGeom>
          <a:solidFill>
            <a:srgbClr val="F8FB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01000" y="1316736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</a:rPr>
              <a:t>fact_application_month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019288" y="1536192"/>
            <a:ext cx="1792224" cy="5486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4B5563"/>
                </a:solidFill>
              </a:rPr>
              <a:t>application_id + month_end_date</a:t>
            </a:r>
            <a:endParaRPr lang="en-US" sz="1020" dirty="0"/>
          </a:p>
          <a:p>
            <a:pPr algn="ctr" indent="0" marL="0">
              <a:buNone/>
            </a:pPr>
            <a:r>
              <a:rPr lang="en-US" sz="1020" dirty="0">
                <a:solidFill>
                  <a:srgbClr val="4B5563"/>
                </a:solidFill>
              </a:rPr>
              <a:t>DPD, balances, status</a:t>
            </a:r>
            <a:endParaRPr lang="en-US" sz="1020" dirty="0"/>
          </a:p>
        </p:txBody>
      </p:sp>
      <p:sp>
        <p:nvSpPr>
          <p:cNvPr id="19" name="Shape 17"/>
          <p:cNvSpPr/>
          <p:nvPr/>
        </p:nvSpPr>
        <p:spPr>
          <a:xfrm>
            <a:off x="10149840" y="1234440"/>
            <a:ext cx="1463040" cy="914400"/>
          </a:xfrm>
          <a:prstGeom prst="roundRect">
            <a:avLst>
              <a:gd name="adj" fmla="val 5000"/>
            </a:avLst>
          </a:prstGeom>
          <a:solidFill>
            <a:srgbClr val="FFF7F7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241280" y="1316736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2626"/>
                </a:solidFill>
              </a:rPr>
              <a:t>fact_default_event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259568" y="1536192"/>
            <a:ext cx="1243584" cy="5486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4B5563"/>
                </a:solidFill>
              </a:rPr>
              <a:t>default timing</a:t>
            </a:r>
            <a:endParaRPr lang="en-US" sz="1020" dirty="0"/>
          </a:p>
          <a:p>
            <a:pPr algn="ctr" indent="0" marL="0">
              <a:buNone/>
            </a:pPr>
            <a:r>
              <a:rPr lang="en-US" sz="1020" dirty="0">
                <a:solidFill>
                  <a:srgbClr val="4B5563"/>
                </a:solidFill>
              </a:rPr>
              <a:t>and loss</a:t>
            </a:r>
            <a:endParaRPr lang="en-US" sz="1020" dirty="0"/>
          </a:p>
        </p:txBody>
      </p:sp>
      <p:sp>
        <p:nvSpPr>
          <p:cNvPr id="22" name="Shape 20"/>
          <p:cNvSpPr/>
          <p:nvPr/>
        </p:nvSpPr>
        <p:spPr>
          <a:xfrm>
            <a:off x="2743200" y="2880360"/>
            <a:ext cx="2240280" cy="960120"/>
          </a:xfrm>
          <a:prstGeom prst="roundRect">
            <a:avLst>
              <a:gd name="adj" fmla="val 4762"/>
            </a:avLst>
          </a:prstGeom>
          <a:solidFill>
            <a:srgbClr val="F7FEFF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834640" y="2962656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B6D4"/>
                </a:solidFill>
              </a:rPr>
              <a:t>obs_application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2852928" y="3182112"/>
            <a:ext cx="2020824" cy="5943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4B5563"/>
                </a:solidFill>
              </a:rPr>
              <a:t>application_id + observation_date</a:t>
            </a:r>
            <a:endParaRPr lang="en-US" sz="1020" dirty="0"/>
          </a:p>
          <a:p>
            <a:pPr algn="ctr" indent="0" marL="0">
              <a:buNone/>
            </a:pPr>
            <a:r>
              <a:rPr lang="en-US" sz="1020" dirty="0">
                <a:solidFill>
                  <a:srgbClr val="4B5563"/>
                </a:solidFill>
              </a:rPr>
              <a:t>feature anchor table</a:t>
            </a:r>
            <a:endParaRPr lang="en-US" sz="1020" dirty="0"/>
          </a:p>
        </p:txBody>
      </p:sp>
      <p:sp>
        <p:nvSpPr>
          <p:cNvPr id="25" name="Shape 23"/>
          <p:cNvSpPr/>
          <p:nvPr/>
        </p:nvSpPr>
        <p:spPr>
          <a:xfrm>
            <a:off x="5486400" y="2880360"/>
            <a:ext cx="2697480" cy="960120"/>
          </a:xfrm>
          <a:prstGeom prst="roundRect">
            <a:avLst>
              <a:gd name="adj" fmla="val 4762"/>
            </a:avLst>
          </a:prstGeom>
          <a:solidFill>
            <a:srgbClr val="F5FFF8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577840" y="2962656"/>
            <a:ext cx="2514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A34A"/>
                </a:solidFill>
              </a:rPr>
              <a:t>feature_registry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596128" y="3182112"/>
            <a:ext cx="2478024" cy="5943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4B5563"/>
                </a:solidFill>
              </a:rPr>
              <a:t>windows, logic, filters, output shape, ownership</a:t>
            </a:r>
            <a:endParaRPr lang="en-US" sz="1020" dirty="0"/>
          </a:p>
        </p:txBody>
      </p:sp>
      <p:sp>
        <p:nvSpPr>
          <p:cNvPr id="28" name="Shape 26"/>
          <p:cNvSpPr/>
          <p:nvPr/>
        </p:nvSpPr>
        <p:spPr>
          <a:xfrm>
            <a:off x="8732520" y="2880360"/>
            <a:ext cx="2331720" cy="960120"/>
          </a:xfrm>
          <a:prstGeom prst="roundRect">
            <a:avLst>
              <a:gd name="adj" fmla="val 4762"/>
            </a:avLst>
          </a:prstGeom>
          <a:solidFill>
            <a:srgbClr val="FFF8F0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823960" y="2962656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7706"/>
                </a:solidFill>
              </a:rPr>
              <a:t>feature_value_narrow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842248" y="3182112"/>
            <a:ext cx="2112264" cy="5943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4B5563"/>
                </a:solidFill>
              </a:rPr>
              <a:t>scalar outputs</a:t>
            </a:r>
            <a:endParaRPr lang="en-US" sz="1020" dirty="0"/>
          </a:p>
          <a:p>
            <a:pPr algn="ctr" indent="0" marL="0">
              <a:buNone/>
            </a:pPr>
            <a:r>
              <a:rPr lang="en-US" sz="1020" dirty="0">
                <a:solidFill>
                  <a:srgbClr val="4B5563"/>
                </a:solidFill>
              </a:rPr>
              <a:t>with lineage</a:t>
            </a:r>
            <a:endParaRPr lang="en-US" sz="1020" dirty="0"/>
          </a:p>
        </p:txBody>
      </p:sp>
      <p:sp>
        <p:nvSpPr>
          <p:cNvPr id="31" name="Shape 29"/>
          <p:cNvSpPr/>
          <p:nvPr/>
        </p:nvSpPr>
        <p:spPr>
          <a:xfrm>
            <a:off x="3657600" y="4709160"/>
            <a:ext cx="2697480" cy="914400"/>
          </a:xfrm>
          <a:prstGeom prst="roundRect">
            <a:avLst>
              <a:gd name="adj" fmla="val 5000"/>
            </a:avLst>
          </a:prstGeom>
          <a:solidFill>
            <a:srgbClr val="FFF8F0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749040" y="4791456"/>
            <a:ext cx="2514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7706"/>
                </a:solidFill>
              </a:rPr>
              <a:t>feature_series_value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767328" y="5010912"/>
            <a:ext cx="2478024" cy="5486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4B5563"/>
                </a:solidFill>
              </a:rPr>
              <a:t>ordered raw sequences</a:t>
            </a:r>
            <a:endParaRPr lang="en-US" sz="1020" dirty="0"/>
          </a:p>
          <a:p>
            <a:pPr algn="ctr" indent="0" marL="0">
              <a:buNone/>
            </a:pPr>
            <a:r>
              <a:rPr lang="en-US" sz="1020" dirty="0">
                <a:solidFill>
                  <a:srgbClr val="4B5563"/>
                </a:solidFill>
              </a:rPr>
              <a:t>(relative month + value)</a:t>
            </a:r>
            <a:endParaRPr lang="en-US" sz="1020" dirty="0"/>
          </a:p>
        </p:txBody>
      </p:sp>
      <p:sp>
        <p:nvSpPr>
          <p:cNvPr id="34" name="Shape 32"/>
          <p:cNvSpPr/>
          <p:nvPr/>
        </p:nvSpPr>
        <p:spPr>
          <a:xfrm>
            <a:off x="6812280" y="4709160"/>
            <a:ext cx="3154680" cy="914400"/>
          </a:xfrm>
          <a:prstGeom prst="roundRect">
            <a:avLst>
              <a:gd name="adj" fmla="val 5000"/>
            </a:avLst>
          </a:prstGeom>
          <a:solidFill>
            <a:srgbClr val="FFF7F7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903720" y="4791456"/>
            <a:ext cx="2971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2626"/>
                </a:solidFill>
              </a:rPr>
              <a:t>feature_application_wide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922008" y="5010912"/>
            <a:ext cx="2935224" cy="5486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4B5563"/>
                </a:solidFill>
              </a:rPr>
              <a:t>final serving table</a:t>
            </a:r>
            <a:endParaRPr lang="en-US" sz="1020" dirty="0"/>
          </a:p>
          <a:p>
            <a:pPr algn="ctr" indent="0" marL="0">
              <a:buNone/>
            </a:pPr>
            <a:r>
              <a:rPr lang="en-US" sz="1020" dirty="0">
                <a:solidFill>
                  <a:srgbClr val="4B5563"/>
                </a:solidFill>
              </a:rPr>
              <a:t>scalar columns + arrays</a:t>
            </a:r>
            <a:endParaRPr lang="en-US" sz="1020" dirty="0"/>
          </a:p>
        </p:txBody>
      </p:sp>
      <p:sp>
        <p:nvSpPr>
          <p:cNvPr id="37" name="Shape 35"/>
          <p:cNvSpPr/>
          <p:nvPr/>
        </p:nvSpPr>
        <p:spPr>
          <a:xfrm>
            <a:off x="4526280" y="2212848"/>
            <a:ext cx="-685800" cy="621792"/>
          </a:xfrm>
          <a:prstGeom prst="line">
            <a:avLst/>
          </a:prstGeom>
          <a:noFill/>
          <a:ln w="12700">
            <a:solidFill>
              <a:srgbClr val="A9B7CB"/>
            </a:solidFill>
            <a:prstDash val="solid"/>
            <a:headEnd type="none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8915400" y="2212848"/>
            <a:ext cx="-4754880" cy="621792"/>
          </a:xfrm>
          <a:prstGeom prst="line">
            <a:avLst/>
          </a:prstGeom>
          <a:noFill/>
          <a:ln w="12700">
            <a:solidFill>
              <a:srgbClr val="A9B7CB"/>
            </a:solidFill>
            <a:prstDash val="solid"/>
            <a:headEnd type="none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8915400" y="2212848"/>
            <a:ext cx="-2103120" cy="621792"/>
          </a:xfrm>
          <a:prstGeom prst="line">
            <a:avLst/>
          </a:prstGeom>
          <a:noFill/>
          <a:ln w="12700">
            <a:solidFill>
              <a:srgbClr val="A9B7CB"/>
            </a:solidFill>
            <a:prstDash val="solid"/>
            <a:headEnd type="none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3840480" y="3858768"/>
            <a:ext cx="1188720" cy="822960"/>
          </a:xfrm>
          <a:prstGeom prst="line">
            <a:avLst/>
          </a:prstGeom>
          <a:noFill/>
          <a:ln w="12700">
            <a:solidFill>
              <a:srgbClr val="A9B7CB"/>
            </a:solidFill>
            <a:prstDash val="solid"/>
            <a:headEnd type="none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6839712" y="3858768"/>
            <a:ext cx="1554480" cy="822960"/>
          </a:xfrm>
          <a:prstGeom prst="line">
            <a:avLst/>
          </a:prstGeom>
          <a:noFill/>
          <a:ln w="12700">
            <a:solidFill>
              <a:srgbClr val="A9B7CB"/>
            </a:solidFill>
            <a:prstDash val="solid"/>
            <a:headEnd type="none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9893808" y="3858768"/>
            <a:ext cx="-1499616" cy="822960"/>
          </a:xfrm>
          <a:prstGeom prst="line">
            <a:avLst/>
          </a:prstGeom>
          <a:noFill/>
          <a:ln w="12700">
            <a:solidFill>
              <a:srgbClr val="A9B7CB"/>
            </a:solidFill>
            <a:prstDash val="solid"/>
            <a:headEnd type="none"/>
            <a:tailEnd type="triangle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56248"/>
            <a:ext cx="36576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D6DDF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38912"/>
            <a:ext cx="9052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 physical tables and grains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896112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</a:rPr>
              <a:t>Use natural grains in base facts and a common as-of grain in the serving layer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2194560" cy="502920"/>
          </a:xfrm>
          <a:prstGeom prst="rect">
            <a:avLst/>
          </a:prstGeom>
          <a:solidFill>
            <a:srgbClr val="E8EEF9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9496" y="1435608"/>
            <a:ext cx="212140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F3A"/>
                </a:solidFill>
              </a:rPr>
              <a:t>Table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697480" y="1371600"/>
            <a:ext cx="2194560" cy="502920"/>
          </a:xfrm>
          <a:prstGeom prst="rect">
            <a:avLst/>
          </a:prstGeom>
          <a:solidFill>
            <a:srgbClr val="E8EEF9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34056" y="1435608"/>
            <a:ext cx="212140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F3A"/>
                </a:solidFill>
              </a:rPr>
              <a:t>Grain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892040" y="1371600"/>
            <a:ext cx="2286000" cy="502920"/>
          </a:xfrm>
          <a:prstGeom prst="rect">
            <a:avLst/>
          </a:prstGeom>
          <a:solidFill>
            <a:srgbClr val="E8EEF9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28616" y="1435608"/>
            <a:ext cx="221284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F3A"/>
                </a:solidFill>
              </a:rPr>
              <a:t>Purpose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178040" y="1371600"/>
            <a:ext cx="4526280" cy="502920"/>
          </a:xfrm>
          <a:prstGeom prst="rect">
            <a:avLst/>
          </a:prstGeom>
          <a:solidFill>
            <a:srgbClr val="E8EEF9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214616" y="1435608"/>
            <a:ext cx="445312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F3A"/>
                </a:solidFill>
              </a:rPr>
              <a:t>Example columns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02920" y="1874520"/>
            <a:ext cx="21945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9496" y="1920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</a:rPr>
              <a:t>fact_application_month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697480" y="1874520"/>
            <a:ext cx="21945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34056" y="1920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</a:rPr>
              <a:t>application_id + month_end_date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892040" y="1874520"/>
            <a:ext cx="22860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28616" y="1920240"/>
            <a:ext cx="2212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</a:rPr>
              <a:t>Canonical monthly behaviour history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178040" y="1874520"/>
            <a:ext cx="45262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214616" y="1920240"/>
            <a:ext cx="44531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</a:rPr>
              <a:t>dpd, arrears_balance, payment_due, payment_made, status_code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02920" y="2377440"/>
            <a:ext cx="2194560" cy="502920"/>
          </a:xfrm>
          <a:prstGeom prst="rect">
            <a:avLst/>
          </a:prstGeom>
          <a:solidFill>
            <a:srgbClr val="F9FB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9496" y="24231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</a:rPr>
              <a:t>obs_application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697480" y="2377440"/>
            <a:ext cx="2194560" cy="502920"/>
          </a:xfrm>
          <a:prstGeom prst="rect">
            <a:avLst/>
          </a:prstGeom>
          <a:solidFill>
            <a:srgbClr val="F9FB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34056" y="24231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</a:rPr>
              <a:t>application_id + observation_date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892040" y="2377440"/>
            <a:ext cx="2286000" cy="502920"/>
          </a:xfrm>
          <a:prstGeom prst="rect">
            <a:avLst/>
          </a:prstGeom>
          <a:solidFill>
            <a:srgbClr val="F9FB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28616" y="2423160"/>
            <a:ext cx="2212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</a:rPr>
              <a:t>Every valid feature calculation anchor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7178040" y="2377440"/>
            <a:ext cx="4526280" cy="502920"/>
          </a:xfrm>
          <a:prstGeom prst="rect">
            <a:avLst/>
          </a:prstGeom>
          <a:solidFill>
            <a:srgbClr val="F9FB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214616" y="2423160"/>
            <a:ext cx="44531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</a:rPr>
              <a:t>observation_month_end, target_window_end_date, snapshot_id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02920" y="2880360"/>
            <a:ext cx="21945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9496" y="292608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</a:rPr>
              <a:t>feature_registry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697480" y="2880360"/>
            <a:ext cx="21945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34056" y="292608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</a:rPr>
              <a:t>feature_id + version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892040" y="2880360"/>
            <a:ext cx="22860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28616" y="2926080"/>
            <a:ext cx="2212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</a:rPr>
              <a:t>Control plane for feature definitions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7178040" y="2880360"/>
            <a:ext cx="45262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214616" y="2926080"/>
            <a:ext cx="44531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</a:rPr>
              <a:t>window_size, aggregation_type, filter_expression, output_shape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02920" y="3383280"/>
            <a:ext cx="2194560" cy="502920"/>
          </a:xfrm>
          <a:prstGeom prst="rect">
            <a:avLst/>
          </a:prstGeom>
          <a:solidFill>
            <a:srgbClr val="F9FB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39496" y="342900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</a:rPr>
              <a:t>feature_value_narrow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2697480" y="3383280"/>
            <a:ext cx="2194560" cy="502920"/>
          </a:xfrm>
          <a:prstGeom prst="rect">
            <a:avLst/>
          </a:prstGeom>
          <a:solidFill>
            <a:srgbClr val="F9FB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734056" y="342900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</a:rPr>
              <a:t>entity_id + observation_date + feature_name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892040" y="3383280"/>
            <a:ext cx="2286000" cy="502920"/>
          </a:xfrm>
          <a:prstGeom prst="rect">
            <a:avLst/>
          </a:prstGeom>
          <a:solidFill>
            <a:srgbClr val="F9FB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928616" y="3429000"/>
            <a:ext cx="2212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</a:rPr>
              <a:t>Intermediate scalar feature outputs with lineage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7178040" y="3383280"/>
            <a:ext cx="4526280" cy="502920"/>
          </a:xfrm>
          <a:prstGeom prst="rect">
            <a:avLst/>
          </a:prstGeom>
          <a:solidFill>
            <a:srgbClr val="F9FB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214616" y="3429000"/>
            <a:ext cx="44531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</a:rPr>
              <a:t>feature_value_numeric, data_type, computed_ts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502920" y="3886200"/>
            <a:ext cx="21945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39496" y="393192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</a:rPr>
              <a:t>feature_series_value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2697480" y="3886200"/>
            <a:ext cx="21945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734056" y="393192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</a:rPr>
              <a:t>entity_id + observation_date + sequence_no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4892040" y="3886200"/>
            <a:ext cx="22860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928616" y="3931920"/>
            <a:ext cx="2212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</a:rPr>
              <a:t>Intermediate ordered history outputs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7178040" y="3886200"/>
            <a:ext cx="45262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214616" y="3931920"/>
            <a:ext cx="44531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</a:rPr>
              <a:t>relative_month_no, period_date, feature_value_numeric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502920" y="4389120"/>
            <a:ext cx="2194560" cy="502920"/>
          </a:xfrm>
          <a:prstGeom prst="rect">
            <a:avLst/>
          </a:prstGeom>
          <a:solidFill>
            <a:srgbClr val="F9FB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39496" y="44348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</a:rPr>
              <a:t>feature_application_wide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2697480" y="4389120"/>
            <a:ext cx="2194560" cy="502920"/>
          </a:xfrm>
          <a:prstGeom prst="rect">
            <a:avLst/>
          </a:prstGeom>
          <a:solidFill>
            <a:srgbClr val="F9FB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734056" y="44348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</a:rPr>
              <a:t>application_id + observation_date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4892040" y="4389120"/>
            <a:ext cx="2286000" cy="502920"/>
          </a:xfrm>
          <a:prstGeom prst="rect">
            <a:avLst/>
          </a:prstGeom>
          <a:solidFill>
            <a:srgbClr val="F9FB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928616" y="4434840"/>
            <a:ext cx="2212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</a:rPr>
              <a:t>Training/scoring serving table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7178040" y="4389120"/>
            <a:ext cx="4526280" cy="502920"/>
          </a:xfrm>
          <a:prstGeom prst="rect">
            <a:avLst/>
          </a:prstGeom>
          <a:solidFill>
            <a:srgbClr val="F9FB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214616" y="4434840"/>
            <a:ext cx="44531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</a:rPr>
              <a:t>max_dpd_12m, dpd_hist_45m, count_30plus_12m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56248"/>
            <a:ext cx="36576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D6DDF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38912"/>
            <a:ext cx="9052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Feature registry design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896112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</a:rPr>
              <a:t>Observation windows become metadata rather than separate pipelines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85800" y="1325880"/>
            <a:ext cx="3154680" cy="4480560"/>
          </a:xfrm>
          <a:prstGeom prst="roundRect">
            <a:avLst>
              <a:gd name="adj" fmla="val 2319"/>
            </a:avLst>
          </a:prstGeom>
          <a:solidFill>
            <a:srgbClr val="EEF3FF"/>
          </a:solidFill>
          <a:ln w="12700">
            <a:solidFill>
              <a:srgbClr val="D7DEEA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325880"/>
            <a:ext cx="109728" cy="44805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6968" y="1453896"/>
            <a:ext cx="2862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</a:rPr>
              <a:t>Recommended registry fields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86968" y="1755648"/>
            <a:ext cx="2880360" cy="3950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</a:rPr>
              <a:t>feature_id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</a:rPr>
              <a:t>feature_name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</a:rPr>
              <a:t>feature_version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</a:rPr>
              <a:t>entity_type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</a:rPr>
              <a:t>feature_family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</a:rPr>
              <a:t>source_table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</a:rPr>
              <a:t>source_column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</a:rPr>
              <a:t>window_unit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</a:rPr>
              <a:t>window_size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</a:rPr>
              <a:t>aggregation_type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</a:rPr>
              <a:t>filter_expression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</a:rPr>
              <a:t>order_by_expression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</a:rPr>
              <a:t>null_handling_rule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</a:rPr>
              <a:t>default_value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</a:rPr>
              <a:t>data_type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</a:rPr>
              <a:t>output_shape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</a:rPr>
              <a:t>training_flag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</a:rPr>
              <a:t>reporting_flag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</a:rPr>
              <a:t>owner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</a:rPr>
              <a:t>is_active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069080" y="1508760"/>
            <a:ext cx="2331720" cy="402336"/>
          </a:xfrm>
          <a:prstGeom prst="rect">
            <a:avLst/>
          </a:prstGeom>
          <a:solidFill>
            <a:srgbClr val="EAF2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05656" y="1572768"/>
            <a:ext cx="2258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F3A"/>
                </a:solidFill>
              </a:rPr>
              <a:t>feature_name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0" y="1508760"/>
            <a:ext cx="2240280" cy="402336"/>
          </a:xfrm>
          <a:prstGeom prst="rect">
            <a:avLst/>
          </a:prstGeom>
          <a:solidFill>
            <a:srgbClr val="EAF2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37376" y="1572768"/>
            <a:ext cx="2167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F3A"/>
                </a:solidFill>
              </a:rPr>
              <a:t>source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641080" y="1508760"/>
            <a:ext cx="822960" cy="402336"/>
          </a:xfrm>
          <a:prstGeom prst="rect">
            <a:avLst/>
          </a:prstGeom>
          <a:solidFill>
            <a:srgbClr val="EAF2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77656" y="1572768"/>
            <a:ext cx="749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F3A"/>
                </a:solidFill>
              </a:rPr>
              <a:t>window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9464040" y="1508760"/>
            <a:ext cx="1280160" cy="402336"/>
          </a:xfrm>
          <a:prstGeom prst="rect">
            <a:avLst/>
          </a:prstGeom>
          <a:solidFill>
            <a:srgbClr val="EAF2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500616" y="1572768"/>
            <a:ext cx="1207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F3A"/>
                </a:solidFill>
              </a:rPr>
              <a:t>aggregation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10744200" y="1508760"/>
            <a:ext cx="594360" cy="402336"/>
          </a:xfrm>
          <a:prstGeom prst="rect">
            <a:avLst/>
          </a:prstGeom>
          <a:solidFill>
            <a:srgbClr val="EAF2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780776" y="1572768"/>
            <a:ext cx="521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F3A"/>
                </a:solidFill>
              </a:rPr>
              <a:t>shape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069080" y="1911096"/>
            <a:ext cx="23317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05656" y="1956816"/>
            <a:ext cx="2258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</a:rPr>
              <a:t>max_dpd_3m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400800" y="1911096"/>
            <a:ext cx="224028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37376" y="1956816"/>
            <a:ext cx="2167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</a:rPr>
              <a:t>fact_application_month.dpd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641080" y="1911096"/>
            <a:ext cx="8229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677656" y="1956816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</a:rPr>
              <a:t>3m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9464040" y="1911096"/>
            <a:ext cx="12801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500616" y="1956816"/>
            <a:ext cx="1207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</a:rPr>
              <a:t>max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10744200" y="1911096"/>
            <a:ext cx="5943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780776" y="1956816"/>
            <a:ext cx="521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</a:rPr>
              <a:t>scalar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069080" y="2313432"/>
            <a:ext cx="2331720" cy="402336"/>
          </a:xfrm>
          <a:prstGeom prst="rect">
            <a:avLst/>
          </a:prstGeom>
          <a:solidFill>
            <a:srgbClr val="F9FB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05656" y="2359152"/>
            <a:ext cx="2258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</a:rPr>
              <a:t>max_dpd_12m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400800" y="2313432"/>
            <a:ext cx="2240280" cy="402336"/>
          </a:xfrm>
          <a:prstGeom prst="rect">
            <a:avLst/>
          </a:prstGeom>
          <a:solidFill>
            <a:srgbClr val="F9FB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37376" y="2359152"/>
            <a:ext cx="2167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</a:rPr>
              <a:t>fact_application_month.dpd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8641080" y="2313432"/>
            <a:ext cx="822960" cy="402336"/>
          </a:xfrm>
          <a:prstGeom prst="rect">
            <a:avLst/>
          </a:prstGeom>
          <a:solidFill>
            <a:srgbClr val="F9FB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677656" y="2359152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</a:rPr>
              <a:t>12m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9464040" y="2313432"/>
            <a:ext cx="1280160" cy="402336"/>
          </a:xfrm>
          <a:prstGeom prst="rect">
            <a:avLst/>
          </a:prstGeom>
          <a:solidFill>
            <a:srgbClr val="F9FB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500616" y="2359152"/>
            <a:ext cx="1207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</a:rPr>
              <a:t>max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10744200" y="2313432"/>
            <a:ext cx="594360" cy="402336"/>
          </a:xfrm>
          <a:prstGeom prst="rect">
            <a:avLst/>
          </a:prstGeom>
          <a:solidFill>
            <a:srgbClr val="F9FB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780776" y="2359152"/>
            <a:ext cx="521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</a:rPr>
              <a:t>scalar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069080" y="2715768"/>
            <a:ext cx="23317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105656" y="2761488"/>
            <a:ext cx="2258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</a:rPr>
              <a:t>count_dpd_30plus_12m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6400800" y="2715768"/>
            <a:ext cx="224028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37376" y="2761488"/>
            <a:ext cx="2167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</a:rPr>
              <a:t>fact_application_month.dpd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8641080" y="2715768"/>
            <a:ext cx="8229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677656" y="2761488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</a:rPr>
              <a:t>12m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9464040" y="2715768"/>
            <a:ext cx="12801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500616" y="2761488"/>
            <a:ext cx="1207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</a:rPr>
              <a:t>count_if(dpd&gt;=30)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10744200" y="2715768"/>
            <a:ext cx="5943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0780776" y="2761488"/>
            <a:ext cx="521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</a:rPr>
              <a:t>scalar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4069080" y="3118104"/>
            <a:ext cx="2331720" cy="402336"/>
          </a:xfrm>
          <a:prstGeom prst="rect">
            <a:avLst/>
          </a:prstGeom>
          <a:solidFill>
            <a:srgbClr val="F9FB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105656" y="3163824"/>
            <a:ext cx="2258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</a:rPr>
              <a:t>avg_balance_6m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6400800" y="3118104"/>
            <a:ext cx="2240280" cy="402336"/>
          </a:xfrm>
          <a:prstGeom prst="rect">
            <a:avLst/>
          </a:prstGeom>
          <a:solidFill>
            <a:srgbClr val="F9FB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437376" y="3163824"/>
            <a:ext cx="2167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</a:rPr>
              <a:t>fact_application_month.outstanding_balance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8641080" y="3118104"/>
            <a:ext cx="822960" cy="402336"/>
          </a:xfrm>
          <a:prstGeom prst="rect">
            <a:avLst/>
          </a:prstGeom>
          <a:solidFill>
            <a:srgbClr val="F9FB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677656" y="3163824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</a:rPr>
              <a:t>6m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9464040" y="3118104"/>
            <a:ext cx="1280160" cy="402336"/>
          </a:xfrm>
          <a:prstGeom prst="rect">
            <a:avLst/>
          </a:prstGeom>
          <a:solidFill>
            <a:srgbClr val="F9FB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500616" y="3163824"/>
            <a:ext cx="1207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</a:rPr>
              <a:t>avg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10744200" y="3118104"/>
            <a:ext cx="594360" cy="402336"/>
          </a:xfrm>
          <a:prstGeom prst="rect">
            <a:avLst/>
          </a:prstGeom>
          <a:solidFill>
            <a:srgbClr val="F9FB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0780776" y="3163824"/>
            <a:ext cx="521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</a:rPr>
              <a:t>scalar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4069080" y="3520440"/>
            <a:ext cx="23317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105656" y="3566160"/>
            <a:ext cx="2258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</a:rPr>
              <a:t>latest_status_1m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6400800" y="3520440"/>
            <a:ext cx="224028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437376" y="3566160"/>
            <a:ext cx="2167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</a:rPr>
              <a:t>fact_application_month.status_code</a:t>
            </a:r>
            <a:endParaRPr lang="en-US" sz="1050" dirty="0"/>
          </a:p>
        </p:txBody>
      </p:sp>
      <p:sp>
        <p:nvSpPr>
          <p:cNvPr id="62" name="Shape 60"/>
          <p:cNvSpPr/>
          <p:nvPr/>
        </p:nvSpPr>
        <p:spPr>
          <a:xfrm>
            <a:off x="8641080" y="3520440"/>
            <a:ext cx="8229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8677656" y="3566160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</a:rPr>
              <a:t>1m</a:t>
            </a:r>
            <a:endParaRPr lang="en-US" sz="1050" dirty="0"/>
          </a:p>
        </p:txBody>
      </p:sp>
      <p:sp>
        <p:nvSpPr>
          <p:cNvPr id="64" name="Shape 62"/>
          <p:cNvSpPr/>
          <p:nvPr/>
        </p:nvSpPr>
        <p:spPr>
          <a:xfrm>
            <a:off x="9464040" y="3520440"/>
            <a:ext cx="12801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9500616" y="3566160"/>
            <a:ext cx="1207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</a:rPr>
              <a:t>latest</a:t>
            </a:r>
            <a:endParaRPr lang="en-US" sz="1050" dirty="0"/>
          </a:p>
        </p:txBody>
      </p:sp>
      <p:sp>
        <p:nvSpPr>
          <p:cNvPr id="66" name="Shape 64"/>
          <p:cNvSpPr/>
          <p:nvPr/>
        </p:nvSpPr>
        <p:spPr>
          <a:xfrm>
            <a:off x="10744200" y="3520440"/>
            <a:ext cx="5943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10780776" y="3566160"/>
            <a:ext cx="521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</a:rPr>
              <a:t>scalar</a:t>
            </a:r>
            <a:endParaRPr lang="en-US" sz="1050" dirty="0"/>
          </a:p>
        </p:txBody>
      </p:sp>
      <p:sp>
        <p:nvSpPr>
          <p:cNvPr id="68" name="Shape 66"/>
          <p:cNvSpPr/>
          <p:nvPr/>
        </p:nvSpPr>
        <p:spPr>
          <a:xfrm>
            <a:off x="4069080" y="3922776"/>
            <a:ext cx="2331720" cy="402336"/>
          </a:xfrm>
          <a:prstGeom prst="rect">
            <a:avLst/>
          </a:prstGeom>
          <a:solidFill>
            <a:srgbClr val="F9FB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105656" y="3968496"/>
            <a:ext cx="2258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</a:rPr>
              <a:t>dpd_hist_45m</a:t>
            </a:r>
            <a:endParaRPr lang="en-US" sz="1050" dirty="0"/>
          </a:p>
        </p:txBody>
      </p:sp>
      <p:sp>
        <p:nvSpPr>
          <p:cNvPr id="70" name="Shape 68"/>
          <p:cNvSpPr/>
          <p:nvPr/>
        </p:nvSpPr>
        <p:spPr>
          <a:xfrm>
            <a:off x="6400800" y="3922776"/>
            <a:ext cx="2240280" cy="402336"/>
          </a:xfrm>
          <a:prstGeom prst="rect">
            <a:avLst/>
          </a:prstGeom>
          <a:solidFill>
            <a:srgbClr val="F9FB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437376" y="3968496"/>
            <a:ext cx="2167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</a:rPr>
              <a:t>fact_application_month.dpd</a:t>
            </a:r>
            <a:endParaRPr lang="en-US" sz="1050" dirty="0"/>
          </a:p>
        </p:txBody>
      </p:sp>
      <p:sp>
        <p:nvSpPr>
          <p:cNvPr id="72" name="Shape 70"/>
          <p:cNvSpPr/>
          <p:nvPr/>
        </p:nvSpPr>
        <p:spPr>
          <a:xfrm>
            <a:off x="8641080" y="3922776"/>
            <a:ext cx="822960" cy="402336"/>
          </a:xfrm>
          <a:prstGeom prst="rect">
            <a:avLst/>
          </a:prstGeom>
          <a:solidFill>
            <a:srgbClr val="F9FB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8677656" y="3968496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</a:rPr>
              <a:t>45m</a:t>
            </a:r>
            <a:endParaRPr lang="en-US" sz="1050" dirty="0"/>
          </a:p>
        </p:txBody>
      </p:sp>
      <p:sp>
        <p:nvSpPr>
          <p:cNvPr id="74" name="Shape 72"/>
          <p:cNvSpPr/>
          <p:nvPr/>
        </p:nvSpPr>
        <p:spPr>
          <a:xfrm>
            <a:off x="9464040" y="3922776"/>
            <a:ext cx="1280160" cy="402336"/>
          </a:xfrm>
          <a:prstGeom prst="rect">
            <a:avLst/>
          </a:prstGeom>
          <a:solidFill>
            <a:srgbClr val="F9FB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9500616" y="3968496"/>
            <a:ext cx="1207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</a:rPr>
              <a:t>ordered_array</a:t>
            </a:r>
            <a:endParaRPr lang="en-US" sz="1050" dirty="0"/>
          </a:p>
        </p:txBody>
      </p:sp>
      <p:sp>
        <p:nvSpPr>
          <p:cNvPr id="76" name="Shape 74"/>
          <p:cNvSpPr/>
          <p:nvPr/>
        </p:nvSpPr>
        <p:spPr>
          <a:xfrm>
            <a:off x="10744200" y="3922776"/>
            <a:ext cx="594360" cy="402336"/>
          </a:xfrm>
          <a:prstGeom prst="rect">
            <a:avLst/>
          </a:prstGeom>
          <a:solidFill>
            <a:srgbClr val="F9FB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10780776" y="3968496"/>
            <a:ext cx="521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</a:rPr>
              <a:t>array</a:t>
            </a:r>
            <a:endParaRPr lang="en-US" sz="1050" dirty="0"/>
          </a:p>
        </p:txBody>
      </p:sp>
      <p:sp>
        <p:nvSpPr>
          <p:cNvPr id="78" name="Shape 76"/>
          <p:cNvSpPr/>
          <p:nvPr/>
        </p:nvSpPr>
        <p:spPr>
          <a:xfrm>
            <a:off x="4069080" y="4892040"/>
            <a:ext cx="3474720" cy="914400"/>
          </a:xfrm>
          <a:prstGeom prst="roundRect">
            <a:avLst>
              <a:gd name="adj" fmla="val 8000"/>
            </a:avLst>
          </a:prstGeom>
          <a:solidFill>
            <a:srgbClr val="F5FFF8"/>
          </a:solidFill>
          <a:ln w="12700">
            <a:solidFill>
              <a:srgbClr val="D7DEEA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12000"/>
              </a:srgbClr>
            </a:outerShdw>
          </a:effectLst>
        </p:spPr>
      </p:sp>
      <p:sp>
        <p:nvSpPr>
          <p:cNvPr id="79" name="Shape 77"/>
          <p:cNvSpPr/>
          <p:nvPr/>
        </p:nvSpPr>
        <p:spPr>
          <a:xfrm>
            <a:off x="4069080" y="4892040"/>
            <a:ext cx="109728" cy="9144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4270248" y="5020056"/>
            <a:ext cx="31821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</a:rPr>
              <a:t>Why it matters</a:t>
            </a:r>
            <a:endParaRPr lang="en-US" sz="1600" dirty="0"/>
          </a:p>
        </p:txBody>
      </p:sp>
      <p:sp>
        <p:nvSpPr>
          <p:cNvPr id="81" name="Text 79"/>
          <p:cNvSpPr/>
          <p:nvPr/>
        </p:nvSpPr>
        <p:spPr>
          <a:xfrm>
            <a:off x="4270248" y="5321808"/>
            <a:ext cx="320040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</a:rPr>
              <a:t>A new feature usually becomes one metadata row, not a new table design.</a:t>
            </a:r>
            <a:endParaRPr lang="en-US" sz="1150" dirty="0"/>
          </a:p>
        </p:txBody>
      </p:sp>
      <p:sp>
        <p:nvSpPr>
          <p:cNvPr id="82" name="Shape 80"/>
          <p:cNvSpPr/>
          <p:nvPr/>
        </p:nvSpPr>
        <p:spPr>
          <a:xfrm>
            <a:off x="7726680" y="4892040"/>
            <a:ext cx="3611880" cy="914400"/>
          </a:xfrm>
          <a:prstGeom prst="roundRect">
            <a:avLst>
              <a:gd name="adj" fmla="val 8000"/>
            </a:avLst>
          </a:prstGeom>
          <a:solidFill>
            <a:srgbClr val="FFF8F0"/>
          </a:solidFill>
          <a:ln w="12700">
            <a:solidFill>
              <a:srgbClr val="D7DEEA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12000"/>
              </a:srgbClr>
            </a:outerShdw>
          </a:effectLst>
        </p:spPr>
      </p:sp>
      <p:sp>
        <p:nvSpPr>
          <p:cNvPr id="83" name="Shape 81"/>
          <p:cNvSpPr/>
          <p:nvPr/>
        </p:nvSpPr>
        <p:spPr>
          <a:xfrm>
            <a:off x="7726680" y="4892040"/>
            <a:ext cx="109728" cy="9144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7927848" y="5020056"/>
            <a:ext cx="33192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</a:rPr>
              <a:t>Best practice</a:t>
            </a:r>
            <a:endParaRPr lang="en-US" sz="1600" dirty="0"/>
          </a:p>
        </p:txBody>
      </p:sp>
      <p:sp>
        <p:nvSpPr>
          <p:cNvPr id="85" name="Text 83"/>
          <p:cNvSpPr/>
          <p:nvPr/>
        </p:nvSpPr>
        <p:spPr>
          <a:xfrm>
            <a:off x="7927848" y="5321808"/>
            <a:ext cx="33375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</a:rPr>
              <a:t>Keep arrays or child sequence tables for raw histories; keep scalar features as columns in the wide serving table.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56248"/>
            <a:ext cx="36576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D6DDF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38912"/>
            <a:ext cx="9052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Feature generation flow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896112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</a:rPr>
              <a:t>A config-driven engine reads the observation table and registry, then produces narrow and wide outputs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" y="1874520"/>
            <a:ext cx="1965960" cy="173736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59536" y="2029968"/>
            <a:ext cx="1719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563EB"/>
                </a:solidFill>
              </a:rPr>
              <a:t>1. Read anchors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59536" y="2359152"/>
            <a:ext cx="1719072" cy="9875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Load obs_application for the snapshot or scoring batch.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926080" y="1874520"/>
            <a:ext cx="1965960" cy="173736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12700">
            <a:solidFill>
              <a:srgbClr val="06B6D4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054096" y="2029968"/>
            <a:ext cx="1719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B6D4"/>
                </a:solidFill>
              </a:rPr>
              <a:t>2. Read registry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054096" y="2359152"/>
            <a:ext cx="1719072" cy="9875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Select active feature definitions and required source families.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120640" y="1874520"/>
            <a:ext cx="1965960" cy="173736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248656" y="2029968"/>
            <a:ext cx="1719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A34A"/>
                </a:solidFill>
              </a:rPr>
              <a:t>3. Window join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248656" y="2359152"/>
            <a:ext cx="1719072" cy="9875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Join conformed facts and filter rows inside each feature window.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0" y="1874520"/>
            <a:ext cx="1965960" cy="173736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443216" y="2029968"/>
            <a:ext cx="1719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97706"/>
                </a:solidFill>
              </a:rPr>
              <a:t>4. Compute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443216" y="2359152"/>
            <a:ext cx="1719072" cy="9875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Apply max / avg / count_if / latest / ordered_array rules.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509760" y="1874520"/>
            <a:ext cx="1965960" cy="173736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637776" y="2029968"/>
            <a:ext cx="1719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C2626"/>
                </a:solidFill>
              </a:rPr>
              <a:t>5. Assemble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637776" y="2359152"/>
            <a:ext cx="1719072" cy="9875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Write narrow lineage tables then assemble the wide serving table.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051560" y="4343400"/>
            <a:ext cx="10104120" cy="1097280"/>
          </a:xfrm>
          <a:prstGeom prst="roundRect">
            <a:avLst>
              <a:gd name="adj" fmla="val 6667"/>
            </a:avLst>
          </a:prstGeom>
          <a:solidFill>
            <a:srgbClr val="F9FBFE"/>
          </a:solidFill>
          <a:ln w="12700">
            <a:solidFill>
              <a:srgbClr val="D7DEEA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051560" y="4343400"/>
            <a:ext cx="109728" cy="109728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252728" y="4471416"/>
            <a:ext cx="9811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</a:rPr>
              <a:t>Window rule example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52728" y="4773168"/>
            <a:ext cx="982980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</a:rPr>
              <a:t>For monthly behavioural features: month_end_date &lt;= observation_date and month_end_date &gt; add_months(observation_date, -window_size). Be explicit about month-end alignment and whether the current month is included.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56248"/>
            <a:ext cx="36576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D6DDF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38912"/>
            <a:ext cx="9052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Sample DDL: core tables in Iceberg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896112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</a:rPr>
              <a:t>Illustrative SQL only - adjust partitioning, types, and catalog names to your environment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94360" y="1325880"/>
            <a:ext cx="5559552" cy="5029200"/>
          </a:xfrm>
          <a:prstGeom prst="roundRect">
            <a:avLst>
              <a:gd name="adj" fmla="val 909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536192"/>
            <a:ext cx="5212080" cy="4617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TABLE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prod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feature_store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fact_application_month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application_id        string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month_end_date       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months_on_book       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dpd                  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arrears_balance      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decimal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outstanding_balance  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decimal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payment_due          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decimal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payment_made         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decimal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missed_payment_flag  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boolean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default_flag         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boolean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status_code           string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as_at_ingest_ts      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timestamp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iceberg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PARTITIONED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BY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months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month_end_date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355080" y="1325880"/>
            <a:ext cx="5212080" cy="5029200"/>
          </a:xfrm>
          <a:prstGeom prst="roundRect">
            <a:avLst>
              <a:gd name="adj" fmla="val 909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37960" y="1536192"/>
            <a:ext cx="4864608" cy="4617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TABLE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prod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feature_store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obs_application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application_id            string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observation_date         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observation_month_end    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target_window_end_date   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snapshot_id               string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is_training_row          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boolean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is_scoring_row           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boolean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iceberg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PARTITIONED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BY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days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observation_date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56248"/>
            <a:ext cx="36576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D6DDF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38912"/>
            <a:ext cx="9052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Sample DDL: registry + serving table + reporting view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896112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</a:rPr>
              <a:t>A practical split is registry metadata, wide serving table, and a separate business-friendly pivot view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94360" y="1325880"/>
            <a:ext cx="5440680" cy="4983480"/>
          </a:xfrm>
          <a:prstGeom prst="roundRect">
            <a:avLst>
              <a:gd name="adj" fmla="val 917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1517904"/>
            <a:ext cx="5093208" cy="45994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TABLE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prod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feature_store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feature_registry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feature_id             string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feature_name           string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feature_version       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entity_type            string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feature_family         string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source_table           string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source_column          string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window_unit            string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window_size           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aggregation_type       string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filter_expression      string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order_by_expression    string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data_type              string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output_shape           string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owner                  string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reporting_flag        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boolean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training_flag         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boolean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is_active             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boolean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iceberg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20" dirty="0"/>
          </a:p>
        </p:txBody>
      </p:sp>
      <p:sp>
        <p:nvSpPr>
          <p:cNvPr id="6" name="Shape 4"/>
          <p:cNvSpPr/>
          <p:nvPr/>
        </p:nvSpPr>
        <p:spPr>
          <a:xfrm>
            <a:off x="6217920" y="1325880"/>
            <a:ext cx="5376672" cy="4983480"/>
          </a:xfrm>
          <a:prstGeom prst="roundRect">
            <a:avLst>
              <a:gd name="adj" fmla="val 917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382512" y="1517904"/>
            <a:ext cx="5029200" cy="45994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TABLE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prod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feature_store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feature_application_wide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application_id          string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observation_date       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max_dpd_3m            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max_dpd_12m           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count_dpd_30plus_12m  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avg_balance_6m        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decimal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dpd_hist_45m           array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feature_set_version    string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iceberg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PARTITIONED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BY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days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observation_date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</a:t>
            </a:r>
            <a:pPr indent="0" marL="0">
              <a:buNone/>
            </a:pP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VIEW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prod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reporting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vw_dpd_reporting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application_id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observation_date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element_at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dpd_hist_45m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dpd_m00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element_at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dpd_hist_45m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dpd_m01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element_at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dpd_hist_45m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dpd_m02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 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continue to dpd_m45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prod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feature_store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feature_application_wide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1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56248"/>
            <a:ext cx="36576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D6DDF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38912"/>
            <a:ext cx="9052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Spark + Iceberg implementation sketch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896112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</a:rPr>
              <a:t>Configure an Iceberg catalog, compute features from conformed facts, and overwrite or merge into a serving table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66928" y="1280160"/>
            <a:ext cx="7699248" cy="5138928"/>
          </a:xfrm>
          <a:prstGeom prst="roundRect">
            <a:avLst>
              <a:gd name="adj" fmla="val 890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463040"/>
            <a:ext cx="7333488" cy="4754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spark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"spark.sql.catalog.prod"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"org.apache.iceberg.spark.SparkCatalog"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spark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"spark.sql.catalog.prod.type"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"hive"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spark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"spark.sql.extensions"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"org.apache.iceberg.spark.extensions.IcebergSparkSessionExtensions"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pPr indent="0" marL="0">
              <a:buNone/>
            </a:pP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obs_df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spark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"prod.feature_store.obs_application"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perf_df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spark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"prod.feature_store.fact_application_month"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reg_df 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spark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"prod.feature_store.feature_registry"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pPr indent="0" marL="0">
              <a:buNone/>
            </a:pP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Example: max_dpd_12m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pyspark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functions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</a:t>
            </a:r>
            <a:pPr indent="0" marL="0">
              <a:buNone/>
            </a:pP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max_dpd_12m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obs_df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alias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"o"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perf_df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alias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"p"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"application_id"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"p.month_end_date"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"o.observation_date"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"p.month_end_date"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add_months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"o.observation_date"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groupBy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"application_id"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"observation_date"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agg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"dpd"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alias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"max_dpd_12m"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 </a:t>
            </a:r>
            <a:pPr indent="0" marL="0">
              <a:buNone/>
            </a:pP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 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Example: raw DPD sequence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dpd_hist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obs_df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alias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"o"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perf_df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alias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"p"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"application_id"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26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"p.month_end_date"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"o.observation_date"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27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"p.month_end_date"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add_months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"o.observation_date"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45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28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groupBy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"application_id"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"observation_date"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29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agg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expr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"transform(reverse(sort_array(collect_list(named_struct('dt', month_end_date, 'dpd', dpd)))), x -&gt; x.dpd)"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alias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"dpd_hist_45m"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31 </a:t>
            </a:r>
            <a:pPr indent="0" marL="0">
              <a:buNone/>
            </a:pP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32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wide_df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max_dpd_12m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dpd_hist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"application_id"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"observation_date"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"left"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33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wide_df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writeTo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"prod.feature_store.feature_application_wide"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overwritePartitions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20" dirty="0"/>
          </a:p>
        </p:txBody>
      </p:sp>
      <p:sp>
        <p:nvSpPr>
          <p:cNvPr id="6" name="Shape 4"/>
          <p:cNvSpPr/>
          <p:nvPr/>
        </p:nvSpPr>
        <p:spPr>
          <a:xfrm>
            <a:off x="8485632" y="1481328"/>
            <a:ext cx="2743200" cy="1234440"/>
          </a:xfrm>
          <a:prstGeom prst="roundRect">
            <a:avLst>
              <a:gd name="adj" fmla="val 5926"/>
            </a:avLst>
          </a:prstGeom>
          <a:solidFill>
            <a:srgbClr val="EEF3FF"/>
          </a:solidFill>
          <a:ln w="12700">
            <a:solidFill>
              <a:srgbClr val="D7DEEA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485632" y="1481328"/>
            <a:ext cx="109728" cy="1234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0" y="1609344"/>
            <a:ext cx="2450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</a:rPr>
              <a:t>Implementation notes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0" y="1911096"/>
            <a:ext cx="2468880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</a:rPr>
              <a:t>Use the observation table as the driver. Compute feature families separately, then assemble the final wide table by application_id + observation_date.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485632" y="2907792"/>
            <a:ext cx="2743200" cy="1463040"/>
          </a:xfrm>
          <a:prstGeom prst="roundRect">
            <a:avLst>
              <a:gd name="adj" fmla="val 5000"/>
            </a:avLst>
          </a:prstGeom>
          <a:solidFill>
            <a:srgbClr val="F5FFF8"/>
          </a:solidFill>
          <a:ln w="12700">
            <a:solidFill>
              <a:srgbClr val="D7DEEA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485632" y="2907792"/>
            <a:ext cx="109728" cy="14630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0" y="3035808"/>
            <a:ext cx="2450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</a:rPr>
              <a:t>Why Iceberg fits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686800" y="3337560"/>
            <a:ext cx="2468880" cy="9326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</a:rPr>
              <a:t>Table DDL, partition evolution, time-travel style snapshots, and reliable overwrite / replace semantics are useful for feature store workflows.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485632" y="4572000"/>
            <a:ext cx="2743200" cy="1325880"/>
          </a:xfrm>
          <a:prstGeom prst="roundRect">
            <a:avLst>
              <a:gd name="adj" fmla="val 5517"/>
            </a:avLst>
          </a:prstGeom>
          <a:solidFill>
            <a:srgbClr val="FFF8F0"/>
          </a:solidFill>
          <a:ln w="12700">
            <a:solidFill>
              <a:srgbClr val="D7DEEA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85632" y="4572000"/>
            <a:ext cx="109728" cy="13258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0" y="4700016"/>
            <a:ext cx="2450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</a:rPr>
              <a:t>Serving pattern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686800" y="5001768"/>
            <a:ext cx="2468880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</a:rPr>
              <a:t>Persist wide features physically. Keep reporting pivots as views unless repeated BI use justifies materialisation.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56248"/>
            <a:ext cx="36576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D6DDF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38912"/>
            <a:ext cx="9052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Recommended blueprint for your use case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896112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</a:rPr>
              <a:t>If the primary entity is application, this pattern keeps the model scalable and easy to explain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2834640" cy="3383280"/>
          </a:xfrm>
          <a:prstGeom prst="roundRect">
            <a:avLst>
              <a:gd name="adj" fmla="val 2581"/>
            </a:avLst>
          </a:prstGeom>
          <a:solidFill>
            <a:srgbClr val="EEF3FF"/>
          </a:solidFill>
          <a:ln w="12700">
            <a:solidFill>
              <a:srgbClr val="D7DEEA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371600"/>
            <a:ext cx="109728" cy="33832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" y="1499616"/>
            <a:ext cx="2542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</a:rPr>
              <a:t>Store once at natural grain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32688" y="1801368"/>
            <a:ext cx="2560320" cy="2852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</a:rPr>
              <a:t>fact_application_month is the canonical monthly behavioural table. DPD lives here, not only in a wide table.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794760" y="1371600"/>
            <a:ext cx="2834640" cy="3383280"/>
          </a:xfrm>
          <a:prstGeom prst="roundRect">
            <a:avLst>
              <a:gd name="adj" fmla="val 2581"/>
            </a:avLst>
          </a:prstGeom>
          <a:solidFill>
            <a:srgbClr val="F7FEFF"/>
          </a:solidFill>
          <a:ln w="12700">
            <a:solidFill>
              <a:srgbClr val="D7DEEA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794760" y="1371600"/>
            <a:ext cx="109728" cy="338328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95928" y="1499616"/>
            <a:ext cx="2542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</a:rPr>
              <a:t>Drive all features from observation anchors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995928" y="1801368"/>
            <a:ext cx="2560320" cy="2852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</a:rPr>
              <a:t>obs_application defines every application_id + observation_date that should receive a feature vector.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858000" y="1371600"/>
            <a:ext cx="2194560" cy="3383280"/>
          </a:xfrm>
          <a:prstGeom prst="roundRect">
            <a:avLst>
              <a:gd name="adj" fmla="val 3333"/>
            </a:avLst>
          </a:prstGeom>
          <a:solidFill>
            <a:srgbClr val="F5FFF8"/>
          </a:solidFill>
          <a:ln w="12700">
            <a:solidFill>
              <a:srgbClr val="D7DEEA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858000" y="1371600"/>
            <a:ext cx="109728" cy="33832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59168" y="1499616"/>
            <a:ext cx="1901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</a:rPr>
              <a:t>Parameterise windows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059168" y="1801368"/>
            <a:ext cx="1920240" cy="2852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</a:rPr>
              <a:t>Registry metadata makes 3m, 6m, 12m, 24m, and 45m windows a configuration problem.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281160" y="1371600"/>
            <a:ext cx="2148840" cy="3383280"/>
          </a:xfrm>
          <a:prstGeom prst="roundRect">
            <a:avLst>
              <a:gd name="adj" fmla="val 3404"/>
            </a:avLst>
          </a:prstGeom>
          <a:solidFill>
            <a:srgbClr val="FFF8F0"/>
          </a:solidFill>
          <a:ln w="12700">
            <a:solidFill>
              <a:srgbClr val="D7DEEA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281160" y="1371600"/>
            <a:ext cx="109728" cy="33832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482328" y="1499616"/>
            <a:ext cx="1856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</a:rPr>
              <a:t>Separate consumers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482328" y="1801368"/>
            <a:ext cx="1874520" cy="2852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</a:rPr>
              <a:t>Models consume wide tables; reporting consumes pivot views; engineers can still use arrays or sequence tables.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1188720" y="5074920"/>
            <a:ext cx="987552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188720" y="5074920"/>
            <a:ext cx="109728" cy="80467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389888" y="5202936"/>
            <a:ext cx="9582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</a:rPr>
              <a:t>One-line takeaway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389888" y="5504688"/>
            <a:ext cx="960120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</a:rPr>
              <a:t>Canonical long facts + observation anchors + feature registry + narrow lineage layer + wide serving table + reporting pivot views.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56248"/>
            <a:ext cx="36576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D6DDF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Feature Platform: Logical &amp; Physical Data Model</dc:title>
  <dc:subject>Feature platform logical and physical data model</dc:subject>
  <dc:creator>OpenAI</dc:creator>
  <cp:lastModifiedBy>OpenAI</cp:lastModifiedBy>
  <cp:revision>1</cp:revision>
  <dcterms:created xsi:type="dcterms:W3CDTF">2026-04-19T11:47:15Z</dcterms:created>
  <dcterms:modified xsi:type="dcterms:W3CDTF">2026-04-19T11:47:15Z</dcterms:modified>
</cp:coreProperties>
</file>