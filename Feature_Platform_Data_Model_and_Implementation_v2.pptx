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190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Platform Architecture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868680"/>
            <a:ext cx="10972800" cy="5212080"/>
          </a:xfrm>
          <a:prstGeom prst="roundRect">
            <a:avLst>
              <a:gd name="adj" fmla="val 1754"/>
            </a:avLst>
          </a:prstGeom>
          <a:solidFill>
            <a:srgbClr val="EAF1F8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234440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Platform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Logical Model, Physical Model, DDL and Spark Iceberg Sketch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269748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8"/>
                </a:solidFill>
              </a:rPr>
              <a:t>Covers the path from raw ingestion to conformed monthly facts, observation anchors, feature registry, generated feature values, wide serving tables, reporting views, and implementation patterns for Spark + Iceberg.</a:t>
            </a:r>
            <a:endParaRPr lang="en-US" sz="1200" dirty="0"/>
          </a:p>
        </p:txBody>
      </p:sp>
      <p:pic>
        <p:nvPicPr>
          <p:cNvPr id="5" name="Image 0" descr="/mnt/data/user-xbjAYtNHykIJyo5qCED4pO4K/cdcef1584c904ef5ad42e0ebbcd654e5/mnt/data/feature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432910"/>
            <a:ext cx="3383280" cy="1260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4069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Recommended serving pattern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4370832"/>
            <a:ext cx="6217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Canonical storage: long monthly fact tables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Computation driver: application_id + observation_date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Control plane: feature registry with window and aggregation metadata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Serving: wide feature table plus optional reporting pivots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Logical architecture from raw to serving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Each layer has a single responsibility and a clear grain.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435608"/>
            <a:ext cx="10405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1. Raw ingestion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" y="1709928"/>
            <a:ext cx="10405872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Source-aligned landing tables. Preserve source payload, batch IDs, replayability and audit history.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89320" y="202082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130552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F9FBFD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7824" y="2240280"/>
            <a:ext cx="10405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2. Standardised base facts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2514600"/>
            <a:ext cx="10405872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Conformed application, contract and monthly performance facts with typed columns and business keys.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28254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935224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" y="3044952"/>
            <a:ext cx="10405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3. Observation framework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3319272"/>
            <a:ext cx="10405872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One row per application and observation date. Drives all lookback logic.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9320" y="36301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739896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F9FBFD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7824" y="3849624"/>
            <a:ext cx="10405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4. Feature registry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" y="4123944"/>
            <a:ext cx="10405872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Metadata defining source, window, aggregation, ordering, output type and owner.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89320" y="44348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4544568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" y="4654296"/>
            <a:ext cx="10405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5. Feature computation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7824" y="4928616"/>
            <a:ext cx="10405872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Generated narrow values and optional sequence outputs used to assemble final serving tables.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9320" y="52395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1520" y="534924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F9FBFD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7824" y="5458968"/>
            <a:ext cx="10405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6. Serving and reporting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" y="5733288"/>
            <a:ext cx="10405872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Wide application feature table, arrays for sequences, and business-friendly reporting views.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logical data model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Primary entity shown at application grain with customer and contract support.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48132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dim_application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1755648"/>
            <a:ext cx="18105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One current or SCD2 row per application.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285292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fact_application_month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3127248"/>
            <a:ext cx="181051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application_id + month_end_date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DPD, balances, arrears, payments, status.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" y="427024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obs_application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4544568"/>
            <a:ext cx="181051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application_id + observation_date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Driver of feature calculation.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38144" y="1481328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bridge_application_customer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38144" y="1755648"/>
            <a:ext cx="171907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Maps joint applications to one or many customers.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25146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38144" y="2624328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dim_customer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38144" y="2898648"/>
            <a:ext cx="171907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Current or historised customer attributes.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36576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38144" y="3767328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fact_contract_month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38144" y="4041648"/>
            <a:ext cx="171907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Contract monthly balances and delinquency.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06440" y="1371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9DB7D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52744" y="1481328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feature_registry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52744" y="1755648"/>
            <a:ext cx="17190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 metadata: source, window, filter, aggregation, output shape and owner.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06440" y="27889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52744" y="2898648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feature_value_narrow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52744" y="3172968"/>
            <a:ext cx="17190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entity_id + observation_date + feature_name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Auditable generated values.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75320" y="20116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E8F5E9"/>
          </a:solidFill>
          <a:ln w="12700">
            <a:solidFill>
              <a:srgbClr val="97C39F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21624" y="212140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feature_application_wide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21624" y="2395728"/>
            <a:ext cx="199339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Model-serving table keyed by application_id + observation_date.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75320" y="36576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8E7"/>
          </a:solidFill>
          <a:ln w="12700">
            <a:solidFill>
              <a:srgbClr val="E4C97F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21624" y="376732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vw_feature_application_reporting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21624" y="4041648"/>
            <a:ext cx="199339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Wide reporting view with dpd_m00...dpd_m45 and summary metrics.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0" y="1783080"/>
            <a:ext cx="502920" cy="0"/>
          </a:xfrm>
          <a:prstGeom prst="line">
            <a:avLst/>
          </a:prstGeom>
          <a:noFill/>
          <a:ln w="12700">
            <a:solidFill>
              <a:srgbClr val="4F81B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743200" y="3200400"/>
            <a:ext cx="3017520" cy="0"/>
          </a:xfrm>
          <a:prstGeom prst="line">
            <a:avLst/>
          </a:prstGeom>
          <a:noFill/>
          <a:ln w="12700">
            <a:solidFill>
              <a:srgbClr val="4F81B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743200" y="4526280"/>
            <a:ext cx="3017520" cy="-2743200"/>
          </a:xfrm>
          <a:prstGeom prst="line">
            <a:avLst/>
          </a:prstGeom>
          <a:noFill/>
          <a:ln w="12700">
            <a:solidFill>
              <a:srgbClr val="4F81B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303520" y="4041648"/>
            <a:ext cx="457200" cy="-886968"/>
          </a:xfrm>
          <a:prstGeom prst="line">
            <a:avLst/>
          </a:prstGeom>
          <a:noFill/>
          <a:ln w="12700">
            <a:solidFill>
              <a:srgbClr val="4F81BD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303520" y="1755648"/>
            <a:ext cx="457200" cy="0"/>
          </a:xfrm>
          <a:prstGeom prst="line">
            <a:avLst/>
          </a:prstGeom>
          <a:noFill/>
          <a:ln w="12700">
            <a:solidFill>
              <a:srgbClr val="4F81BD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818120" y="3200400"/>
            <a:ext cx="411480" cy="-749808"/>
          </a:xfrm>
          <a:prstGeom prst="line">
            <a:avLst/>
          </a:prstGeom>
          <a:noFill/>
          <a:ln w="12700">
            <a:solidFill>
              <a:srgbClr val="4F81BD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818120" y="3200400"/>
            <a:ext cx="411480" cy="804672"/>
          </a:xfrm>
          <a:prstGeom prst="line">
            <a:avLst/>
          </a:prstGeom>
          <a:noFill/>
          <a:ln w="12700">
            <a:solidFill>
              <a:srgbClr val="4F81BD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818120" y="1783080"/>
            <a:ext cx="411480" cy="667512"/>
          </a:xfrm>
          <a:prstGeom prst="line">
            <a:avLst/>
          </a:prstGeom>
          <a:noFill/>
          <a:ln w="12700">
            <a:solidFill>
              <a:srgbClr val="4F81BD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8"/>
                </a:solidFill>
              </a:rPr>
              <a:t>Feature engine joins observation rows to base facts, filters by lookback window, applies registry rules, and assembles wide serving outputs.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Physical data model by layer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Suggested core tables and their grains.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43560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Raw and conformed base tables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4944" y="1709928"/>
            <a:ext cx="3273552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raw_application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raw_contract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raw_monthly_performance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dim_application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bridge_application_customer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dim_customer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fact_application_month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fact_contract_month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fact_default_event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3258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9704" y="1435608"/>
            <a:ext cx="3136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Observation and control plane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9704" y="1709928"/>
            <a:ext cx="3136392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obs_application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application_id + observation_date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feature_registry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feature_registry_dependency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feature_registry_tag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01000" y="13258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47304" y="1435608"/>
            <a:ext cx="3319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Generated and serving outputs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47304" y="1709928"/>
            <a:ext cx="3319272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feature_value_narrow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feature_series_value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feature_application_wide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vw_feature_application_reporting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" y="3675888"/>
            <a:ext cx="5102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Recommended key grains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" y="3950208"/>
            <a:ext cx="5102352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fact_application_month: application_id + month_end_date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obs_application: application_id + observation_date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feature_value_narrow: entity_id + observation_date + feature_name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feature_series_value: entity_id + observation_date + feature_name + sequence_no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feature_application_wide: application_id + observation_date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64224" y="3675888"/>
            <a:ext cx="5102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Recommended DPD representations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3950208"/>
            <a:ext cx="5102352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Canonical: fact_application_month.dpd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Technical serving: feature_application_wide.dpd_hist_45m as array&lt;int&gt;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Business reporting: vw_feature_application_reporting.dpd_m00 to dpd_m45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Summary metrics: max_dpd_3m, max_dpd_12m, count_dpd_30plus_12m, months_since_last_delinquency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registry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Control feature generation using metadata rather than hand-coded tables.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435608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Core registry fields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4944" y="1709928"/>
            <a:ext cx="3547872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feature_version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entity_type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feature_family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source_table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source_column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window_unit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window_size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aggregation_type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filter_expression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order_by_expression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null_handling_rule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default_value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data_type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output_shape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serving_layer_flag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reporting_flag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owner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valid_from_date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is_active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6903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9744" y="1435608"/>
            <a:ext cx="6611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Example registry entries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9744" y="1709928"/>
            <a:ext cx="6611112" cy="1563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max_dpd_3m → source fact_application_month.dpd, window 3, aggregation max, output scalar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count_dpd_30plus_12m → source fact_application_month.dpd, window 12, aggregation count_if, filter dpd &gt;= 30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dpd_hist_45m → source fact_application_month.dpd, window 45, aggregation array, order month_end_date desc, output array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avg_balance_6m → source fact_application_month.outstanding_balance, window 6, aggregation avg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3657600"/>
            <a:ext cx="6903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9744" y="3767328"/>
            <a:ext cx="6611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How the engine uses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9744" y="4041648"/>
            <a:ext cx="6611112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1. Read obs_application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2. Read active feature definitions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3. Join entity facts to each observation row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4. Apply the feature window, for example month_end_date &lt;= observation_date and month_end_date &gt; add_months(observation_date, -window_size)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5. Aggregate or collect ordered sequences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6. Write narrow values, then assemble wide serving outputs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DDL sketch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Illustrative Iceberg tables for observation anchors, monthly facts and serving tables.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507492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risk.fact_application_month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application_id        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month_end_date         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months_on_book        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dpd                   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arrears_balance        decimal(18,2),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outstanding_balance    decimal(18,2),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payment_due            decimal(18,2),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payment_made           decimal(18,2),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missed_payment_flag    boolean,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default_flag           boolean,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status_code           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USING iceberg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PARTITIONED BY (months(month_end_date));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risk.obs_application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application_id        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observation_date       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model_segment         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is_training_row        boolean,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snapshot_id           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USING iceberg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PARTITIONED BY (months(observation_date));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risk.feature_application_wide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application_id        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observation_date       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max_dpd_3m            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max_dpd_12m           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count_dpd_30plus_12m  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dpd_hist_45m           array&lt;int&gt;,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feature_set_version   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USING iceberg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PARTITIONED BY (months(observation_date));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Spark + Iceberg implementation sketch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Observation-driven generation for aggregate and sequence features.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5074920"/>
          </a:xfrm>
          <a:prstGeom prst="rect">
            <a:avLst/>
          </a:prstGeom>
          <a:solidFill>
            <a:srgbClr val="F8FAFC"/>
          </a:solidFill>
          <a:ln>
            <a:solidFill>
              <a:srgbClr val="D7DFEA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 import functions as F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 = spark.table('risk.obs_application')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 = spark.table('risk.fact_application_month')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(obs.alias('o')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.join(perf.alias('p'), 'application_id')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.where(F.col('p.month_end_date') &lt;= F.col('o.observation_date')))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12 month aggregate example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dpd_12m = (base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.where(F.col('p.month_end_date') &gt; F.add_months(F.col('o.observation_date'), -12))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.groupBy('application_id', 'observation_date')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F.max('dpd').alias('max_dpd_12m'),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F.sum(F.when(F.col('dpd') &gt;= 30, 1).otherwise(0)).alias('count_dpd_30plus_12m')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45 month ordered sequence example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dpd_45m = (base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.where(F.col('p.month_end_date') &gt; F.add_months(F.col('o.observation_date'), -45))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.groupBy('application_id', 'observation_date')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.agg(F.expr("transform(array_sort(collect_list(named_struct('m', month_end_date, 'v', dpd))), x -&gt; x.v)").alias('dpd_hist_45m')))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final_df = (dpd_12m.join(dpd_45m, ['application_id','observation_date'], 'left')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.withColumn('feature_set_version', F.lit('v1')))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(final_df.writeTo('risk.feature_application_wide')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.overwritePartitions())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Reporting view and delivery options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Use different shapes for different consumers.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48132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Recommended serving outputs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1755648"/>
            <a:ext cx="3273552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1. feature_application_wide for training and scoring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2. feature_series_value if consumers prefer row-based sequences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3. vw_feature_application_reporting for business review and dashboards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4. Narrow auditable values for lineage and debugging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3716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481328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Reporting view shape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72584" y="1755648"/>
            <a:ext cx="3090672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application_id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observation_date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dpd_m00 ... dpd_m45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max_dpd_3m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max_dpd_12m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count_dpd_30plus_12m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months_since_last_delinquency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3880" y="13716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0184" y="148132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Why this split works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30184" y="1755648"/>
            <a:ext cx="3044952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Long base facts stay scalable.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Registry keeps logic consistent.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Wide serving tables are model-friendly.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Reporting views remain simple for analysts and BI tools.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Implementation summary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Store canonical monthly performance in fact tables.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Drive every feature off application_id plus observation_date.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Parameterise windows and aggregations in the registry.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Generate narrow values first, then assemble wide outputs.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Expose arrays for technical sequences and pivots for reporting.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406908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 w="12700">
            <a:solidFill>
              <a:srgbClr val="9DB7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4315968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Best default for DPD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Canonical: long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Technical: array&lt;int&gt;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Reporting: dpd_m00 to dpd_m45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Platform Data Model and Implementation</dc:title>
  <dc:subject>Feature platform logical and physical data model</dc:subject>
  <dc:creator>OpenAI</dc:creator>
  <cp:lastModifiedBy>OpenAI</cp:lastModifiedBy>
  <cp:revision>1</cp:revision>
  <dcterms:created xsi:type="dcterms:W3CDTF">2026-04-19T11:54:56Z</dcterms:created>
  <dcterms:modified xsi:type="dcterms:W3CDTF">2026-04-19T11:54:56Z</dcterms:modified>
</cp:coreProperties>
</file>