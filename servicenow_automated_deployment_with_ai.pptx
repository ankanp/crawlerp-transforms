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42B48"/>
                </a:solidFill>
                <a:latin typeface="Aptos"/>
              </a:defRPr>
            </a:pPr>
            <a:r>
              <a:t>Automated deployment with ServiceNow change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0">
                <a:solidFill>
                  <a:srgbClr val="5E7085"/>
                </a:solidFill>
                <a:latin typeface="Aptos"/>
              </a:defRPr>
            </a:pPr>
            <a:r>
              <a:t>A governed path from code change to production — with an auditable approval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85800" cy="41148"/>
          </a:xfrm>
          <a:prstGeom prst="rect">
            <a:avLst/>
          </a:prstGeom>
          <a:solidFill>
            <a:srgbClr val="24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E7085"/>
                </a:solidFill>
                <a:latin typeface="Aptos"/>
              </a:defRPr>
            </a:pPr>
            <a:r>
              <a:t>01</a:t>
            </a:r>
          </a:p>
        </p:txBody>
      </p:sp>
      <p:pic>
        <p:nvPicPr>
          <p:cNvPr id="6" name="Picture 5" descr="a_clean_infographic_diagram_on_a_whit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1115568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01400" y="6565392"/>
            <a:ext cx="411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0">
                <a:solidFill>
                  <a:srgbClr val="5E7085"/>
                </a:solidFill>
                <a:latin typeface="Aptos"/>
              </a:defRPr>
            </a:pPr>
            <a: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42B48"/>
                </a:solidFill>
                <a:latin typeface="Aptos"/>
              </a:defRPr>
            </a:pPr>
            <a:r>
              <a:t>How the workflow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0">
                <a:solidFill>
                  <a:srgbClr val="5E7085"/>
                </a:solidFill>
                <a:latin typeface="Aptos"/>
              </a:defRPr>
            </a:pPr>
            <a:r>
              <a:t>The pipeline orchestrates the release; ServiceNow remains the system of record for change governance.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85800" cy="41148"/>
          </a:xfrm>
          <a:prstGeom prst="rect">
            <a:avLst/>
          </a:prstGeom>
          <a:solidFill>
            <a:srgbClr val="24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E70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487168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664208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2470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99339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42B48"/>
                </a:solidFill>
                <a:latin typeface="Aptos"/>
              </a:defRPr>
            </a:pPr>
            <a:r>
              <a:t>Commit &amp;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606040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PR merged to an approved branch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326440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Run unit/integration tests, lint and security scans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3922776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Build immutable, versioned artifacts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508760"/>
            <a:ext cx="2487168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664208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1C9E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99339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42B48"/>
                </a:solidFill>
                <a:latin typeface="Aptos"/>
              </a:defRPr>
            </a:pPr>
            <a:r>
              <a:t>Create change (CHG)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606040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GitHub Actions calls ServiceNow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326440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Attach release, commit SHA, target, window and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922776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Include implementation, test and backout plans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508760"/>
            <a:ext cx="2487168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E67E2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9339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42B48"/>
                </a:solidFill>
                <a:latin typeface="Aptos"/>
              </a:defRPr>
            </a:pPr>
            <a:r>
              <a:t>Approval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2606040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Wait for an approved status / approval 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26440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Verify CHG is approved and within its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3922776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Rejected, expired or unavailable → fail closed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1508760"/>
            <a:ext cx="2487168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8" y="1664208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0096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199339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142B48"/>
                </a:solidFill>
                <a:latin typeface="Aptos"/>
              </a:defRPr>
            </a:pPr>
            <a:r>
              <a:t>Deploy &amp; reconcile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06040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Assume a scoped AWS deployment 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264408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Apply Terraform or release application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922776"/>
            <a:ext cx="2212848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20" b="0">
                <a:solidFill>
                  <a:srgbClr val="233141"/>
                </a:solidFill>
                <a:latin typeface="Aptos"/>
              </a:defRPr>
            </a:pPr>
            <a:r>
              <a:t>• Write outcome/evidence back; close or escalate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44952" y="3017520"/>
            <a:ext cx="301751" cy="0"/>
          </a:xfrm>
          <a:prstGeom prst="line">
            <a:avLst/>
          </a:prstGeom>
          <a:ln w="19050">
            <a:solidFill>
              <a:srgbClr val="5E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943600" y="3017520"/>
            <a:ext cx="301752" cy="0"/>
          </a:xfrm>
          <a:prstGeom prst="line">
            <a:avLst/>
          </a:prstGeom>
          <a:ln w="19050">
            <a:solidFill>
              <a:srgbClr val="5E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42248" y="3017520"/>
            <a:ext cx="301752" cy="0"/>
          </a:xfrm>
          <a:prstGeom prst="line">
            <a:avLst/>
          </a:prstGeom>
          <a:ln w="19050">
            <a:solidFill>
              <a:srgbClr val="5E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94360" y="5047488"/>
            <a:ext cx="5349240" cy="914400"/>
          </a:xfrm>
          <a:prstGeom prst="roundRect">
            <a:avLst/>
          </a:prstGeom>
          <a:solidFill>
            <a:srgbClr val="EFFAF3"/>
          </a:solidFill>
          <a:ln w="12700">
            <a:solidFill>
              <a:srgbClr val="B0E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spcAft>
                <a:spcPts val="500"/>
              </a:spcAft>
              <a:defRPr sz="1400" b="1">
                <a:solidFill>
                  <a:srgbClr val="1C9E5C"/>
                </a:solidFill>
                <a:latin typeface="Aptos"/>
              </a:defRPr>
            </a:pPr>
            <a:r>
              <a:t>If approved</a:t>
            </a:r>
          </a:p>
          <a:p>
            <a:pPr>
              <a:spcAft>
                <a:spcPts val="500"/>
              </a:spcAft>
              <a:defRPr sz="1200" b="0">
                <a:solidFill>
                  <a:srgbClr val="233141"/>
                </a:solidFill>
                <a:latin typeface="Aptos"/>
              </a:defRPr>
            </a:pPr>
            <a:r>
              <a:t>Deployment proceeds only for the approved scope and window.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5047488"/>
            <a:ext cx="5349240" cy="914400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F2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>
              <a:spcAft>
                <a:spcPts val="500"/>
              </a:spcAft>
              <a:defRPr sz="1400" b="1">
                <a:solidFill>
                  <a:srgbClr val="CB3640"/>
                </a:solidFill>
                <a:latin typeface="Aptos"/>
              </a:defRPr>
            </a:pPr>
            <a:r>
              <a:t>If rejected / deployment fails</a:t>
            </a:r>
          </a:p>
          <a:p>
            <a:pPr>
              <a:spcAft>
                <a:spcPts val="500"/>
              </a:spcAft>
              <a:defRPr sz="1150" b="0">
                <a:solidFill>
                  <a:srgbClr val="233141"/>
                </a:solidFill>
                <a:latin typeface="Aptos"/>
              </a:defRPr>
            </a:pPr>
            <a:r>
              <a:t>Stop or fail the pipeline, notify owners, preserve evidence and follow rollback/incident policy.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199632"/>
            <a:ext cx="10972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42B48"/>
                </a:solidFill>
                <a:latin typeface="Aptos"/>
              </a:defRPr>
            </a:pPr>
            <a:r>
              <a:t>Control principle: approval is enforced by the pipeline, not inferred from a notification or a manually updated ticket.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65392"/>
            <a:ext cx="411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0">
                <a:solidFill>
                  <a:srgbClr val="5E7085"/>
                </a:solidFill>
                <a:latin typeface="Aptos"/>
              </a:defRPr>
            </a:pPr>
            <a: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142B48"/>
                </a:solidFill>
                <a:latin typeface="Aptos"/>
              </a:defRPr>
            </a:pPr>
            <a:r>
              <a:t>How we build it — and where Devin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50" b="0">
                <a:solidFill>
                  <a:srgbClr val="5E7085"/>
                </a:solidFill>
                <a:latin typeface="Aptos"/>
              </a:defRPr>
            </a:pPr>
            <a:r>
              <a:t>Build a reusable, policy-controlled workflow once; let teams supply configuration rather than reinventing the integration.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685800" cy="41148"/>
          </a:xfrm>
          <a:prstGeom prst="rect">
            <a:avLst/>
          </a:prstGeom>
          <a:solidFill>
            <a:srgbClr val="24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7432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1">
                <a:solidFill>
                  <a:srgbClr val="5E70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89888"/>
            <a:ext cx="5577840" cy="452628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CDDC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2470D2"/>
                </a:solidFill>
                <a:latin typeface="Aptos"/>
              </a:defRPr>
            </a:pPr>
            <a:r>
              <a:t>BUILD PLAN</a:t>
            </a:r>
          </a:p>
          <a:p>
            <a:pPr>
              <a:spcAft>
                <a:spcPts val="500"/>
              </a:spcAft>
              <a:defRPr sz="1500" b="1">
                <a:solidFill>
                  <a:srgbClr val="142B48"/>
                </a:solidFill>
                <a:latin typeface="Aptos"/>
              </a:defRPr>
            </a:pPr>
            <a:r>
              <a:t>1. Define the contract</a:t>
            </a:r>
          </a:p>
          <a:p>
            <a:pPr>
              <a:spcAft>
                <a:spcPts val="500"/>
              </a:spcAft>
              <a:defRPr sz="1130" b="0">
                <a:solidFill>
                  <a:srgbClr val="233141"/>
                </a:solidFill>
                <a:latin typeface="Aptos"/>
              </a:defRPr>
            </a:pPr>
            <a:r>
              <a:t>Agree CHG fields, approval states, standard vs normal change rules, deployment window and failure handling.</a:t>
            </a:r>
          </a:p>
          <a:p>
            <a:pPr>
              <a:spcAft>
                <a:spcPts val="500"/>
              </a:spcAft>
              <a:defRPr sz="1500" b="1">
                <a:solidFill>
                  <a:srgbClr val="142B48"/>
                </a:solidFill>
                <a:latin typeface="Aptos"/>
              </a:defRPr>
            </a:pPr>
            <a:r>
              <a:t>2. Implement reusable GitHub workflow</a:t>
            </a:r>
          </a:p>
          <a:p>
            <a:pPr>
              <a:spcAft>
                <a:spcPts val="500"/>
              </a:spcAft>
              <a:defRPr sz="1130" b="0">
                <a:solidFill>
                  <a:srgbClr val="233141"/>
                </a:solidFill>
                <a:latin typeface="Aptos"/>
              </a:defRPr>
            </a:pPr>
            <a:r>
              <a:t>Create a centrally maintained reusable workflow/action: validate → create CHG → wait/check approval → deploy → update CHG.</a:t>
            </a:r>
          </a:p>
          <a:p>
            <a:pPr>
              <a:spcAft>
                <a:spcPts val="500"/>
              </a:spcAft>
              <a:defRPr sz="1500" b="1">
                <a:solidFill>
                  <a:srgbClr val="142B48"/>
                </a:solidFill>
                <a:latin typeface="Aptos"/>
              </a:defRPr>
            </a:pPr>
            <a:r>
              <a:t>3. Integrate securely</a:t>
            </a:r>
          </a:p>
          <a:p>
            <a:pPr>
              <a:spcAft>
                <a:spcPts val="500"/>
              </a:spcAft>
              <a:defRPr sz="1130" b="0">
                <a:solidFill>
                  <a:srgbClr val="233141"/>
                </a:solidFill>
                <a:latin typeface="Aptos"/>
              </a:defRPr>
            </a:pPr>
            <a:r>
              <a:t>Use approved secrets/OIDC patterns, least-privilege ServiceNow integration identity and scoped AWS roles. Never put credentials in repo code.</a:t>
            </a:r>
          </a:p>
          <a:p>
            <a:pPr>
              <a:spcAft>
                <a:spcPts val="500"/>
              </a:spcAft>
              <a:defRPr sz="1500" b="1">
                <a:solidFill>
                  <a:srgbClr val="142B48"/>
                </a:solidFill>
                <a:latin typeface="Aptos"/>
              </a:defRPr>
            </a:pPr>
            <a:r>
              <a:t>4. Pilot and operationalise</a:t>
            </a:r>
          </a:p>
          <a:p>
            <a:pPr>
              <a:spcAft>
                <a:spcPts val="500"/>
              </a:spcAft>
              <a:defRPr sz="1130" b="0">
                <a:solidFill>
                  <a:srgbClr val="233141"/>
                </a:solidFill>
                <a:latin typeface="Aptos"/>
              </a:defRPr>
            </a:pPr>
            <a:r>
              <a:t>Test approved/rejected/timeout/API failure/deploy failure paths in non-prod; publish runbook, audit evidence and support ownership.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389888"/>
            <a:ext cx="5394960" cy="2788920"/>
          </a:xfrm>
          <a:prstGeom prst="roundRect">
            <a:avLst/>
          </a:prstGeom>
          <a:solidFill>
            <a:srgbClr val="F8F5FF"/>
          </a:solidFill>
          <a:ln w="12700">
            <a:solidFill>
              <a:srgbClr val="D2C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6F4CBE"/>
                </a:solidFill>
                <a:latin typeface="Aptos"/>
              </a:defRPr>
            </a:pPr>
            <a:r>
              <a:t>WHERE DEVIN / AI HELPS</a:t>
            </a:r>
          </a:p>
          <a:p>
            <a:pPr>
              <a:spcAft>
                <a:spcPts val="500"/>
              </a:spcAft>
              <a:defRPr sz="1400" b="1">
                <a:solidFill>
                  <a:srgbClr val="142B48"/>
                </a:solidFill>
                <a:latin typeface="Aptos"/>
              </a:defRPr>
            </a:pPr>
            <a:r>
              <a:t>Generate the first draft</a:t>
            </a:r>
          </a:p>
          <a:p>
            <a:pPr>
              <a:spcAft>
                <a:spcPts val="500"/>
              </a:spcAft>
              <a:defRPr sz="1120" b="0">
                <a:solidFill>
                  <a:srgbClr val="233141"/>
                </a:solidFill>
                <a:latin typeface="Aptos"/>
              </a:defRPr>
            </a:pPr>
            <a:r>
              <a:t>Scaffold reusable YAML workflows, ServiceNow API client code, Terraform validation and test fixtures from an approved skill/spec.</a:t>
            </a:r>
          </a:p>
          <a:p>
            <a:pPr>
              <a:spcAft>
                <a:spcPts val="500"/>
              </a:spcAft>
              <a:defRPr sz="1400" b="1">
                <a:solidFill>
                  <a:srgbClr val="142B48"/>
                </a:solidFill>
                <a:latin typeface="Aptos"/>
              </a:defRPr>
            </a:pPr>
            <a:r>
              <a:t>Review and improve</a:t>
            </a:r>
          </a:p>
          <a:p>
            <a:pPr>
              <a:spcAft>
                <a:spcPts val="500"/>
              </a:spcAft>
              <a:defRPr sz="1120" b="0">
                <a:solidFill>
                  <a:srgbClr val="233141"/>
                </a:solidFill>
                <a:latin typeface="Aptos"/>
              </a:defRPr>
            </a:pPr>
            <a:r>
              <a:t>Analyse logs, identify failed edge cases, propose fixes and generate unit/integration tests and documentation.</a:t>
            </a:r>
          </a:p>
          <a:p>
            <a:pPr>
              <a:spcAft>
                <a:spcPts val="500"/>
              </a:spcAft>
              <a:defRPr sz="1400" b="1">
                <a:solidFill>
                  <a:srgbClr val="142B48"/>
                </a:solidFill>
                <a:latin typeface="Aptos"/>
              </a:defRPr>
            </a:pPr>
            <a:r>
              <a:t>Maintain the workflow</a:t>
            </a:r>
          </a:p>
          <a:p>
            <a:pPr>
              <a:spcAft>
                <a:spcPts val="500"/>
              </a:spcAft>
              <a:defRPr sz="1120" b="0">
                <a:solidFill>
                  <a:srgbClr val="233141"/>
                </a:solidFill>
                <a:latin typeface="Aptos"/>
              </a:defRPr>
            </a:pPr>
            <a:r>
              <a:t>Help update templates when API fields, policy rules or AWS deployment modules change; prepare PRs for human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4407408"/>
            <a:ext cx="5394960" cy="1508760"/>
          </a:xfrm>
          <a:prstGeom prst="roundRect">
            <a:avLst/>
          </a:prstGeom>
          <a:solidFill>
            <a:srgbClr val="FFF6F6"/>
          </a:solidFill>
          <a:ln w="12700">
            <a:solidFill>
              <a:srgbClr val="F2C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500"/>
              </a:spcAft>
              <a:defRPr sz="1250" b="1">
                <a:solidFill>
                  <a:srgbClr val="CB3640"/>
                </a:solidFill>
                <a:latin typeface="Aptos"/>
              </a:defRPr>
            </a:pPr>
            <a:r>
              <a:t>GUARDRAILS — AI DOES NOT APPROVE OR DEPLOY BY ITSELF</a:t>
            </a:r>
          </a:p>
          <a:p>
            <a:pPr>
              <a:spcAft>
                <a:spcPts val="500"/>
              </a:spcAft>
              <a:defRPr sz="1080" b="0">
                <a:solidFill>
                  <a:srgbClr val="233141"/>
                </a:solidFill>
                <a:latin typeface="Aptos"/>
              </a:defRPr>
            </a:pPr>
            <a:r>
              <a:t>• No production credentials or direct approval authority for Devin</a:t>
            </a:r>
          </a:p>
          <a:p>
            <a:pPr>
              <a:spcAft>
                <a:spcPts val="500"/>
              </a:spcAft>
              <a:defRPr sz="1080" b="0">
                <a:solidFill>
                  <a:srgbClr val="233141"/>
                </a:solidFill>
                <a:latin typeface="Aptos"/>
              </a:defRPr>
            </a:pPr>
            <a:r>
              <a:t>• Generated changes go through PR review, tests and policy checks</a:t>
            </a:r>
          </a:p>
          <a:p>
            <a:pPr>
              <a:spcAft>
                <a:spcPts val="500"/>
              </a:spcAft>
              <a:defRPr sz="1080" b="0">
                <a:solidFill>
                  <a:srgbClr val="233141"/>
                </a:solidFill>
                <a:latin typeface="Aptos"/>
              </a:defRPr>
            </a:pPr>
            <a:r>
              <a:t>• ServiceNow remains the approval record; deterministic workflow enforces the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142B48"/>
                </a:solidFill>
                <a:latin typeface="Aptos"/>
              </a:defRPr>
            </a:pPr>
            <a:r>
              <a:t>Suggested MVP: one non-production repo + one deployment type + one CHG template + explicit approval polling + full success/failure audit trail.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65392"/>
            <a:ext cx="4114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0">
                <a:solidFill>
                  <a:srgbClr val="5E7085"/>
                </a:solidFill>
                <a:latin typeface="Aptos"/>
              </a:defRPr>
            </a:pPr>
            <a: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