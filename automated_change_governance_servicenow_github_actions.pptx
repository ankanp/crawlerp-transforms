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731520"/>
            <a:ext cx="2377440" cy="1005840"/>
          </a:xfrm>
          <a:prstGeom prst="roundRect">
            <a:avLst/>
          </a:prstGeom>
          <a:solidFill>
            <a:srgbClr val="2C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1965960"/>
            <a:ext cx="1371600" cy="1371600"/>
          </a:xfrm>
          <a:prstGeom prst="round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2468880"/>
            <a:ext cx="1325880" cy="1325880"/>
          </a:xfrm>
          <a:prstGeom prst="roundRect">
            <a:avLst/>
          </a:prstGeom>
          <a:solidFill>
            <a:srgbClr val="3D5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4069080"/>
            <a:ext cx="2103120" cy="685800"/>
          </a:xfrm>
          <a:prstGeom prst="roundRect">
            <a:avLst/>
          </a:prstGeom>
          <a:solidFill>
            <a:srgbClr val="3D5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768096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Automated Change</a:t>
            </a:r>
            <a:br/>
            <a:r>
              <a:t>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70408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0">
                <a:solidFill>
                  <a:srgbClr val="CFE0F1"/>
                </a:solidFill>
                <a:latin typeface="Aptos"/>
              </a:defRPr>
            </a:pPr>
            <a:r>
              <a:t>End-to-end design for ServiceNow +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68580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Policy-driven approvals • Controlled deployments • Auditable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B4C5D7"/>
                </a:solidFill>
                <a:latin typeface="Aptos"/>
              </a:defRPr>
            </a:pPr>
            <a:r>
              <a:t>Architecture and implementation proposal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Objective: reduce routine manual effort without weakening change authorisation or auditability.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Create one governed deployment path across applications, infrastructure, data platforms and security configuration.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Use GitHub Actions to orchestrate CI/CD; ServiceNow Change Management remains the authoritative change record and approval source.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Use policy-as-code to enforce technical controls and classify changes; only eligible, pre-authorised standard changes bypass individual approval.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Require human approval for normal, high-risk and exceptional changes according to the organisation’s approval matrix.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Capture traceability from ServiceNow change → pull request → commit/artifact → deployment → post-deployment result.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Recommended implementation: pilot a single low-risk deployment path, prove the controls, then expand by service and change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Separation of responsibilities: GitHub executes; policy engine evaluates; ServiceNow owns the change lifecycle and approval state.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Fail closed for production if approval, policy evaluation, ticket validation or required evidence cannot be verified.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Do not trust a developer-selected ‘standard’ label: eligibility must be independently checked against a pre-approved template.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Validate twice: at pull request/merge and immediately before deployment; approvals must match the exact commit and artifact.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Centralise reusable workflows and policy packs so teams cannot create weaker local variants.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Keep emergency changes within a documented, authorised process with retrospective review where policy requires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Logical components and trust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057400" cy="868680"/>
          </a:xfrm>
          <a:prstGeom prst="roundRect">
            <a:avLst/>
          </a:prstGeom>
          <a:solidFill>
            <a:srgbClr val="EDF3F9"/>
          </a:solidFill>
          <a:ln>
            <a:solidFill>
              <a:srgbClr val="16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9"/>
                </a:solidFill>
                <a:latin typeface="Aptos"/>
              </a:defRPr>
            </a:pPr>
            <a:r>
              <a:t>Developer / team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PR • release • ticket ref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554480"/>
            <a:ext cx="2194560" cy="868680"/>
          </a:xfrm>
          <a:prstGeom prst="roundRect">
            <a:avLst/>
          </a:prstGeom>
          <a:solidFill>
            <a:srgbClr val="EDF3F9"/>
          </a:solidFill>
          <a:ln>
            <a:solidFill>
              <a:srgbClr val="16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9"/>
                </a:solidFill>
                <a:latin typeface="Aptos"/>
              </a:defRPr>
            </a:pPr>
            <a:r>
              <a:t>GitHub Enterprise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Branch rules •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54480"/>
            <a:ext cx="2377440" cy="868680"/>
          </a:xfrm>
          <a:prstGeom prst="roundRect">
            <a:avLst/>
          </a:prstGeom>
          <a:solidFill>
            <a:srgbClr val="E6F4F5"/>
          </a:solidFill>
          <a:ln>
            <a:solidFill>
              <a:srgbClr val="00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8591"/>
                </a:solidFill>
                <a:latin typeface="Aptos"/>
              </a:defRPr>
            </a:pPr>
            <a:r>
              <a:t>Governance engine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Policy + risk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554480"/>
            <a:ext cx="2834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D6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D68223"/>
                </a:solidFill>
                <a:latin typeface="Aptos"/>
              </a:defRPr>
            </a:pPr>
            <a:r>
              <a:t>ServiceNow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Change record •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703320"/>
            <a:ext cx="2377440" cy="960120"/>
          </a:xfrm>
          <a:prstGeom prst="roundRect">
            <a:avLst/>
          </a:prstGeom>
          <a:solidFill>
            <a:srgbClr val="EDF3F9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C69B0"/>
                </a:solidFill>
                <a:latin typeface="Aptos"/>
              </a:defRPr>
            </a:pPr>
            <a:r>
              <a:t>Reusable workflows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Validate • plan •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703320"/>
            <a:ext cx="2377440" cy="960120"/>
          </a:xfrm>
          <a:prstGeom prst="roundRect">
            <a:avLst/>
          </a:prstGeom>
          <a:solidFill>
            <a:srgbClr val="EDF3F9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C69B0"/>
                </a:solidFill>
                <a:latin typeface="Aptos"/>
              </a:defRPr>
            </a:pPr>
            <a:r>
              <a:t>Deployment identity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OIDC • scoped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703320"/>
            <a:ext cx="2743200" cy="960120"/>
          </a:xfrm>
          <a:prstGeom prst="roundRect">
            <a:avLst/>
          </a:prstGeom>
          <a:solidFill>
            <a:srgbClr val="EDF3F9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C69B0"/>
                </a:solidFill>
                <a:latin typeface="Aptos"/>
              </a:defRPr>
            </a:pPr>
            <a:r>
              <a:t>Target platforms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Apps • AWS • data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5257800"/>
            <a:ext cx="4846320" cy="685800"/>
          </a:xfrm>
          <a:prstGeom prst="roundRect">
            <a:avLst/>
          </a:prstGeom>
          <a:solidFill>
            <a:srgbClr val="EEF2F6"/>
          </a:solidFill>
          <a:ln>
            <a:solidFill>
              <a:srgbClr val="5B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5B6978"/>
                </a:solidFill>
                <a:latin typeface="Aptos"/>
              </a:defRPr>
            </a:pPr>
            <a:r>
              <a:t>Evidence &amp; monitoring</a:t>
            </a:r>
          </a:p>
          <a:p>
            <a:pPr algn="ctr">
              <a:defRPr sz="900">
                <a:solidFill>
                  <a:srgbClr val="26313E"/>
                </a:solidFill>
                <a:latin typeface="Aptos"/>
              </a:defRPr>
            </a:pPr>
            <a:r>
              <a:t>Run logs • CloudTrail • change outcome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1984248"/>
            <a:ext cx="365760" cy="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1984248"/>
            <a:ext cx="411480" cy="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1984248"/>
            <a:ext cx="411480" cy="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17520" y="2423160"/>
            <a:ext cx="1143000" cy="128016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06240" y="4187952"/>
            <a:ext cx="685800" cy="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69480" y="4187952"/>
            <a:ext cx="685799" cy="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4663440"/>
            <a:ext cx="0" cy="59436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183879" y="4663440"/>
            <a:ext cx="1097281" cy="594360"/>
          </a:xfrm>
          <a:prstGeom prst="line">
            <a:avLst/>
          </a:prstGeom>
          <a:ln w="2286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080760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AE3B3B"/>
                </a:solidFill>
                <a:latin typeface="Aptos"/>
              </a:defRPr>
            </a:pPr>
            <a:r>
              <a:t>ServiceNow approval is a deployment prerequisite, not a side effect of a successful CI job.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End-to-end change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1. Developer opens a PR and links the intended ServiceNow change context or release request.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2. CI runs tests, static analysis, dependency/security scans and policy validation.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3. Infrastructure changes generate a Terraform plan; application changes identify the immutable artifact and digest.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4. Governance engine evaluates hard-stop rules, template eligibility, risk and change-window constraints.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5. Workflow creates or retrieves the ServiceNow record and stores its number, sys_id and URL.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6. Before deployment, re-check record state, approval, schedule, cancellation status and exact artifact/plan identity.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7. Deploy using protected environments and short-lived credentials; verify service health.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8. Update ServiceNow with outcome, evidence links and any failure/rollback; close through the configured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Change categories and approval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STANDARD — repeatable, low-risk and explicitly pre-authorised template; automated execution only when every template condition passes.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NORMAL — material change requiring assessment and the appropriate human approval(s), scheduling and implementation/backout plans.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HIGH-RISK — destructive, irreversible, security-sensitive or critical-service impact; additional security/service/risk approvals as required.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EMERGENCY — separate authorised emergency process, restricted scope and post-implementation review according to policy.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Unknown category, missing data, expired approval, failed mandatory control or unavailable policy decision must not be treated as low risk.</a:t>
            </a:r>
          </a:p>
          <a:p>
            <a:pPr>
              <a:spcAft>
                <a:spcPts val="1000"/>
              </a:spcAft>
              <a:defRPr sz="1700">
                <a:solidFill>
                  <a:srgbClr val="26313E"/>
                </a:solidFill>
                <a:latin typeface="Aptos"/>
              </a:defRPr>
            </a:pPr>
            <a:r>
              <a:t>A risk score can prioritise review, but cannot override hard-stop rules or mandatory approval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Illustrative risk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Starting point for calibration; not an industry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2057400" cy="475488"/>
          </a:xfrm>
          <a:prstGeom prst="rect">
            <a:avLst/>
          </a:prstGeom>
          <a:solidFill>
            <a:srgbClr val="162B4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27632"/>
            <a:ext cx="1911095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554480"/>
            <a:ext cx="2560320" cy="475488"/>
          </a:xfrm>
          <a:prstGeom prst="rect">
            <a:avLst/>
          </a:prstGeom>
          <a:solidFill>
            <a:srgbClr val="162B4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627632"/>
            <a:ext cx="2414015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554480"/>
            <a:ext cx="2560320" cy="475488"/>
          </a:xfrm>
          <a:prstGeom prst="rect">
            <a:avLst/>
          </a:prstGeom>
          <a:solidFill>
            <a:srgbClr val="162B4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1627632"/>
            <a:ext cx="2414015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554480"/>
            <a:ext cx="3108960" cy="475488"/>
          </a:xfrm>
          <a:prstGeom prst="rect">
            <a:avLst/>
          </a:prstGeom>
          <a:solidFill>
            <a:srgbClr val="162B4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627632"/>
            <a:ext cx="296265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29967"/>
            <a:ext cx="205740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139696"/>
            <a:ext cx="191109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26313E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029967"/>
            <a:ext cx="256032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139696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Development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029967"/>
            <a:ext cx="256032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139696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Pre-prod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029967"/>
            <a:ext cx="310896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2139696"/>
            <a:ext cx="2962656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Production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88335"/>
            <a:ext cx="205740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798063"/>
            <a:ext cx="191109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26313E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688335"/>
            <a:ext cx="256032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2798063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Limited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88335"/>
            <a:ext cx="256032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2798063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Service-level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688335"/>
            <a:ext cx="310896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798063"/>
            <a:ext cx="2962656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Critical service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346703"/>
            <a:ext cx="205740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3456432"/>
            <a:ext cx="191109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26313E"/>
                </a:solidFill>
                <a:latin typeface="Aptos"/>
              </a:defRPr>
            </a:pPr>
            <a:r>
              <a:t>Reversibility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346703"/>
            <a:ext cx="256032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3456432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Tested rollback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346703"/>
            <a:ext cx="256032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3456432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Complex rollback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346703"/>
            <a:ext cx="3108960" cy="658368"/>
          </a:xfrm>
          <a:prstGeom prst="rect">
            <a:avLst/>
          </a:prstGeom>
          <a:solidFill>
            <a:srgbClr val="F7F9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3456432"/>
            <a:ext cx="2962656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Irreversible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005072"/>
            <a:ext cx="205740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114800"/>
            <a:ext cx="191109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26313E"/>
                </a:solidFill>
                <a:latin typeface="Aptos"/>
              </a:defRPr>
            </a:pPr>
            <a:r>
              <a:t>Security sensitivity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005072"/>
            <a:ext cx="256032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4114800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No material change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005072"/>
            <a:ext cx="256032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4114800"/>
            <a:ext cx="2414015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005072"/>
            <a:ext cx="3108960" cy="658368"/>
          </a:xfrm>
          <a:prstGeom prst="rect">
            <a:avLst/>
          </a:prstGeom>
          <a:solidFill>
            <a:srgbClr val="EDF3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6992" y="4114800"/>
            <a:ext cx="2962656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26313E"/>
                </a:solidFill>
                <a:latin typeface="Aptos"/>
              </a:defRPr>
            </a:pPr>
            <a:r>
              <a:t>Sensitive control/permission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92040"/>
            <a:ext cx="10607040" cy="11430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Illustrative bands: 0–2 may qualify for automated processing only if an approved template matches; 3–5 require human approval; 6+ triggers high-risk review.</a:t>
            </a:r>
          </a:p>
          <a:p>
            <a:pPr>
              <a:spcAft>
                <a:spcPts val="5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Calibrate against internal risk appetite and historical failure data. Hard-stop rules always take precedence.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Hard-stop policy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Block if the change reference is missing, invalid, cancelled, expired or does not match the service/environment.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Block if tests, required security scans or policy checks fail, or a critical unresolved vulnerability violates policy.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Block use of unapproved repositories, deployment workflows, Terraform modules or privileged deployment identities.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Require security review for IAM privilege escalation, KMS key-policy changes and modifications to production security boundaries.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Require human assessment for material production deletion/replacement, irreversible migration or critical service impact.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Block deployments outside the approved window unless a valid authorised exception or emergency path applies.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If ServiceNow, policy evaluation or approval verification is unavailable, fail closed for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ServiceNow integration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Preferred where available: ServiceNow DevOps Change Velocity / supported DevOps integration with GitHub, subject to instance configuration and licensing.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Alternative: centrally managed GitHub Actions reusable workflow calls the ServiceNow Change Management REST API.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Use the standard-change template endpoint for pre-authorised standard changes; use the normal-change endpoint for normal changes.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ServiceNow remains authoritative for approval, state, scheduling and change lifecycle; GitHub test success does not mean a change is approved.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Confirm API contracts, mandatory fields, change models, ACLs, authentication, rate limits and supported endpoints in the target instance.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Avoid creating two competing change records or treating webhooks as the sole proof of current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Minimum ServiceNow change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Identity and scope: change number, sys_id, service, CI, environment, assignment group and accountable owner.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Classification: change model/type, risk, impact, urgency, policy version and standard-change template where applicable.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Release traceability: repository, PR URL, commit SHA, artifact digest, pipeline run ID and Terraform plan reference where relevant.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Implementation details: reason, implementation plan, test plan, backout plan, expected impact and dependencies.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Scheduling: requested start/end, approved window, blackout/conflict check and any authorised exception.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Authorisation: approval state, approver identity, timestamp, required approval groups and decision evidence.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Outcome: deployment status, verification results, incident/rollback reference and evidence links.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ServiceNow API: create a normal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Illustrative REST pattern — validate payload and response against your instance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675120" cy="4069080"/>
          </a:xfrm>
          <a:prstGeom prst="roundRect">
            <a:avLst/>
          </a:prstGeom>
          <a:solidFill>
            <a:srgbClr val="F2F5F9"/>
          </a:solidFill>
          <a:ln>
            <a:solidFill>
              <a:srgbClr val="CD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>
              <a:defRPr sz="1400">
                <a:solidFill>
                  <a:srgbClr val="26313E"/>
                </a:solidFill>
                <a:latin typeface="Consolas"/>
              </a:defRPr>
            </a:pPr>
            <a:r>
              <a:t>POST /api/sn_chg_rest/change/normal</a:t>
            </a:r>
            <a:br/>
            <a:r>
              <a:t>Accept: application/json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"short_description": "Automated production deployment",</a:t>
            </a:r>
            <a:br/>
            <a:r>
              <a:t>  "description": "Created by governed GitHub Actions",</a:t>
            </a:r>
            <a:br/>
            <a:r>
              <a:t>  "justification": "Validated CI/CD release",</a:t>
            </a:r>
            <a:br/>
            <a:r>
              <a:t>  "implementation_plan": "Deploy the validated artifact",</a:t>
            </a:r>
            <a:br/>
            <a:r>
              <a:t>  "backout_plan": "Restore the previous validated release",</a:t>
            </a:r>
            <a:br/>
            <a:r>
              <a:t>  "test_plan": "Run smoke tests and verify service health"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840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62B49"/>
                </a:solidFill>
                <a:latin typeface="Aptos"/>
              </a:defRPr>
            </a:pPr>
            <a:r>
              <a:t>Implementation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57400"/>
            <a:ext cx="3794760" cy="33832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Use the approved ServiceNow Change Management API and instance-specific required fields.</a:t>
            </a:r>
          </a:p>
          <a:p>
            <a:pPr>
              <a:spcAft>
                <a:spcPts val="8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For standard changes, create from an approved template using the standard-change endpoint.</a:t>
            </a:r>
          </a:p>
          <a:p>
            <a:pPr>
              <a:spcAft>
                <a:spcPts val="8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Capture change number, sys_id and URL from the actual API response.</a:t>
            </a:r>
          </a:p>
          <a:p>
            <a:pPr>
              <a:spcAft>
                <a:spcPts val="8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Add retry-safe idempotency, error handling and duplicate detection.</a:t>
            </a:r>
          </a:p>
          <a:p>
            <a:pPr>
              <a:spcAft>
                <a:spcPts val="8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Never hardcode credentials; use the approved secrets/authentication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B6978"/>
                </a:solidFill>
                <a:latin typeface="Aptos"/>
              </a:defRPr>
            </a:pPr>
            <a:r>
              <a:t>API reference: ServiceNow Change Management API documentation (verify current endpoint and schema in REST API Explorer).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GitHub Actions workflow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Separate validation, change creation/lookup, approval gate and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7315200" cy="4251960"/>
          </a:xfrm>
          <a:prstGeom prst="roundRect">
            <a:avLst/>
          </a:prstGeom>
          <a:solidFill>
            <a:srgbClr val="F2F5F9"/>
          </a:solidFill>
          <a:ln>
            <a:solidFill>
              <a:srgbClr val="CD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200">
                <a:solidFill>
                  <a:srgbClr val="26313E"/>
                </a:solidFill>
                <a:latin typeface="Consolas"/>
              </a:defRPr>
            </a:pPr>
            <a:r>
              <a:t>jobs:</a:t>
            </a:r>
            <a:br/>
            <a:r>
              <a:t>  validate:</a:t>
            </a:r>
            <a:br/>
            <a:r>
              <a:t>    uses: org/platform/.github/workflows/validate.yml@&lt;PINNED_SHA&gt;</a:t>
            </a:r>
            <a:br/>
            <a:br/>
            <a:r>
              <a:t>  create_or_get_change:</a:t>
            </a:r>
            <a:br/>
            <a:r>
              <a:t>    needs: validate</a:t>
            </a:r>
            <a:br/>
            <a:r>
              <a:t>    uses: org/platform/.github/workflows/servicenow-change.yml@&lt;PINNED_SHA&gt;</a:t>
            </a:r>
            <a:br/>
            <a:br/>
            <a:r>
              <a:t>  verify_authorisation:</a:t>
            </a:r>
            <a:br/>
            <a:r>
              <a:t>    needs: create_or_get_change</a:t>
            </a:r>
            <a:br/>
            <a:r>
              <a:t>    uses: org/platform/.github/workflows/verify-change.yml@&lt;PINNED_SHA&gt;</a:t>
            </a:r>
            <a:br/>
            <a:br/>
            <a:r>
              <a:t>  deploy:</a:t>
            </a:r>
            <a:br/>
            <a:r>
              <a:t>    needs: verify_authorisation</a:t>
            </a:r>
            <a:br/>
            <a:r>
              <a:t>    uses: org/platform/.github/workflows/deploy.yml@&lt;PINNED_SHA&gt;</a:t>
            </a:r>
            <a:br/>
            <a:r>
              <a:t>    with:</a:t>
            </a:r>
            <a:br/>
            <a:r>
              <a:t>      change_number: ${{ needs.create_or_get_change.outputs.change_number }}</a:t>
            </a:r>
            <a:br/>
            <a:r>
              <a:t>      target_environment: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691640"/>
            <a:ext cx="3200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62B49"/>
                </a:solidFill>
                <a:latin typeface="Aptos"/>
              </a:defRPr>
            </a:pPr>
            <a:r>
              <a:t>Required safeguards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3246120" cy="3474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313E"/>
                </a:solidFill>
                <a:latin typeface="Aptos"/>
              </a:defRPr>
            </a:pPr>
            <a:r>
              <a:t>Pin reusable workflows to immutable commit SHAs.</a:t>
            </a:r>
          </a:p>
          <a:p>
            <a:pPr>
              <a:spcAft>
                <a:spcPts val="800"/>
              </a:spcAft>
              <a:defRPr sz="1200">
                <a:solidFill>
                  <a:srgbClr val="26313E"/>
                </a:solidFill>
                <a:latin typeface="Aptos"/>
              </a:defRPr>
            </a:pPr>
            <a:r>
              <a:t>Do not trust user-editable variables as proof of approval.</a:t>
            </a:r>
          </a:p>
          <a:p>
            <a:pPr>
              <a:spcAft>
                <a:spcPts val="800"/>
              </a:spcAft>
              <a:defRPr sz="1200">
                <a:solidFill>
                  <a:srgbClr val="26313E"/>
                </a:solidFill>
                <a:latin typeface="Aptos"/>
              </a:defRPr>
            </a:pPr>
            <a:r>
              <a:t>Re-check ServiceNow state immediately before deployment.</a:t>
            </a:r>
          </a:p>
          <a:p>
            <a:pPr>
              <a:spcAft>
                <a:spcPts val="800"/>
              </a:spcAft>
              <a:defRPr sz="1200">
                <a:solidFill>
                  <a:srgbClr val="26313E"/>
                </a:solidFill>
                <a:latin typeface="Aptos"/>
              </a:defRPr>
            </a:pPr>
            <a:r>
              <a:t>Tie approval to the exact validated commit/artifact/plan.</a:t>
            </a:r>
          </a:p>
          <a:p>
            <a:pPr>
              <a:spcAft>
                <a:spcPts val="800"/>
              </a:spcAft>
              <a:defRPr sz="1200">
                <a:solidFill>
                  <a:srgbClr val="26313E"/>
                </a:solidFill>
                <a:latin typeface="Aptos"/>
              </a:defRPr>
            </a:pPr>
            <a:r>
              <a:t>Protect production environments and require independent reviewers where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Example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13E"/>
                </a:solidFill>
                <a:latin typeface="Aptos"/>
              </a:defRPr>
            </a:pPr>
            <a:r>
              <a:t>SCENARIO A — Add a Glue Catalog table through an approved Terraform module. Plan shows an additive change; naming, encryption, Lake Formation, tags and module checks pass; template conditions match. Result: eligible for automated standard-change execution.</a:t>
            </a:r>
          </a:p>
          <a:p>
            <a:pPr>
              <a:spcAft>
                <a:spcPts val="1000"/>
              </a:spcAft>
              <a:defRPr sz="1500">
                <a:solidFill>
                  <a:srgbClr val="26313E"/>
                </a:solidFill>
                <a:latin typeface="Aptos"/>
              </a:defRPr>
            </a:pPr>
            <a:r>
              <a:t>SCENARIO B — Change a production KMS key policy. The plan identifies a security-sensitive change. Result: block automatic standard approval, obtain required security/service approvals, re-check state and then deploy under controlled conditions.</a:t>
            </a:r>
          </a:p>
          <a:p>
            <a:pPr>
              <a:spcAft>
                <a:spcPts val="1000"/>
              </a:spcAft>
              <a:defRPr sz="1500">
                <a:solidFill>
                  <a:srgbClr val="26313E"/>
                </a:solidFill>
                <a:latin typeface="Aptos"/>
              </a:defRPr>
            </a:pPr>
            <a:r>
              <a:t>SCENARIO C — Terraform plan changes after approval. Result: invalidate the previous decision, rerun policy/risk checks and require renewed approval if the change is material.</a:t>
            </a:r>
          </a:p>
          <a:p>
            <a:pPr>
              <a:spcAft>
                <a:spcPts val="1000"/>
              </a:spcAft>
              <a:defRPr sz="1500">
                <a:solidFill>
                  <a:srgbClr val="26313E"/>
                </a:solidFill>
                <a:latin typeface="Aptos"/>
              </a:defRPr>
            </a:pPr>
            <a:r>
              <a:t>SCENARIO D — ServiceNow is unavailable during production deployment. Result: fail closed unless an explicitly authorised contingency process applies.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Security, audit and evidence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Separation of duties: requester cannot be the sole required approver for high-risk changes; approval roles are restricted.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Identity: use least-privilege ServiceNow integration access and short-lived AWS credentials through OIDC where supported.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Evidence chain: ServiceNow change → PR → commit → artifact digest/plan → workflow run → deployment result.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Integrity: version policies, review policy changes independently and retain the exact policy version used for each decision.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Retention: store audit evidence in an approved repository with suitable access, retention, deletion protection and legal/regulatory controls.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Monitoring: use CloudTrail and platform logs for deployment actions; alert on bypasses, drift, repeated failures and exceptions.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Exceptions: record rationale, owner, expiry, compensating controls and post-change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PHASE 1 — Foundation: agree policy, change categories, approval matrix, owners, ticket fields and standard-change catalogue.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PHASE 2 — Controls: build central reusable workflows, policy-as-code, ServiceNow API integration, OIDC and environment protection.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PHASE 3 — Pilot: run in advisory mode; compare automated risk decisions with human review; enable a small number of standard templates.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PHASE 4 — Scale: extend to application releases, AWS infrastructure, IAM, database schemas, Glue Catalog and data pipelines.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PHASE 5 — Assurance: review metrics, test bypass scenarios, tune risk thresholds, revalidate templates and conduct periodic control testing.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Gate each phase on evidence that controls work, not merely that the pipeline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Operating model and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Central platform team: own reusable workflows, policy engine, deployment identities, templates and guardrails.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Application/data teams: own code quality, service impact, change request, tests, implementation/backout plans and operational readiness.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Service owner: accountable for service impact and service-specific approvals.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Security team: define mandatory security rules and review sensitive or exceptional changes.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Change management: own process policy, standard-change catalogue, approval matrix and audit expectations.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Independent assurance: periodically test control design and operating effectiveness.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Measures of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Automation rate: percentage of eligible standard changes processed without individual approval.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Traceability: percentage of deployments with complete ticket-to-artifact-to-outcome evidence.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Quality: failed change rate, rollback rate and incidents attributable to changes by category.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Control effectiveness: policy violations blocked, unauthorised deployment attempts and pipeline bypasses detected.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Efficiency: approval lead time for normal/high-risk changes and time spent assembling audit evidence.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Governance hygiene: overdue exceptions, expired templates and percentage of templates revalidated on schedule.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Avoid optimising only for automation volume; safety and evidence completeness are co-equal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Decisions needed to move to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Confirm whether ServiceNow DevOps Change Velocity / GitHub integration is already licensed and enabled; otherwise use the Change Management REST API.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Select the system's approved authentication method and the least-privilege integration identity.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Confirm standard-change templates, mandatory fields, approval states, scheduling rules and supported APIs in the target instance.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Choose one pilot: e.g., approved Terraform module adding a Glue Catalog table, or a low-risk application release.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Agree the audit evidence location, retention policy, exception process and ownership of policy changes.</a:t>
            </a:r>
          </a:p>
          <a:p>
            <a:pPr>
              <a:spcAft>
                <a:spcPts val="1000"/>
              </a:spcAft>
              <a:defRPr sz="1600">
                <a:solidFill>
                  <a:srgbClr val="26313E"/>
                </a:solidFill>
                <a:latin typeface="Aptos"/>
              </a:defRPr>
            </a:pPr>
            <a:r>
              <a:t>Build a thin vertical slice: PR → policy checks → ServiceNow create/lookup → approval verification → deploy → verification → ServiceNow update.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62B49"/>
                </a:solidFill>
                <a:latin typeface="Aptos"/>
              </a:defRPr>
            </a:pPr>
            <a:r>
              <a:t>Reference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225296"/>
            <a:ext cx="1051560" cy="50292"/>
          </a:xfrm>
          <a:prstGeom prst="rect">
            <a:avLst/>
          </a:prstGeom>
          <a:solidFill>
            <a:srgbClr val="00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008591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927080" cy="4736592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ServiceNow Change Management API: https://www.servicenow.com/docs/r/api-reference/rest-apis/change-management-api.html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ServiceNow DevOps Change Velocity documentation and GitHub integration: confirm current supported setup in your ServiceNow documentation portal.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ServiceNow DevOps update-change GitHub Action: https://github.com/ServiceNow/servicenow-devops-update-change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GitHub Actions reusable workflows: https://docs.github.com/actions/sharing-automations/reusing-workflows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GitHub deployment environments: https://docs.github.com/actions/deployment/targeting-different-environments/using-environments-for-deployment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GitHub OIDC for AWS: https://docs.github.com/actions/security-for-github-actions/security-hardening-your-deployments/configuring-openid-connect-in-amazon-web-services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OPA documentation: https://www.openpolicyagent.org/docs/latest/</a:t>
            </a:r>
          </a:p>
          <a:p>
            <a:pPr>
              <a:spcAft>
                <a:spcPts val="1000"/>
              </a:spcAft>
              <a:defRPr sz="1300">
                <a:solidFill>
                  <a:srgbClr val="26313E"/>
                </a:solidFill>
                <a:latin typeface="Aptos"/>
              </a:defRPr>
            </a:pPr>
            <a:r>
              <a:t>Implementation note: confirm current APIs, feature availability, licensing and local controls before production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5B6978"/>
                </a:solidFill>
                <a:latin typeface="Aptos"/>
              </a:defRPr>
            </a:pPr>
            <a:r>
              <a:t>AUTOMATED CHANGE GOVERNANCE  | 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5B69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